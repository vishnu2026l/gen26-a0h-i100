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BF14233-9500-6E6F-EA14-2A71E9639D6B}">
          <p14:sldIdLst>
            <p14:sldId id="256"/>
            <p14:sldId id="257"/>
          </p14:sldIdLst>
        </p14:section>
        <p14:section name="Case Studies" id="{338E70E8-AECF-8DED-381D-1EC3C5999444}">
          <p14:sldIdLst>
            <p14:sldId id="258"/>
            <p14:sldId id="259"/>
            <p14:sldId id="260"/>
            <p14:sldId id="261"/>
            <p14:sldId id="262"/>
            <p14:sldId id="263"/>
            <p14:sldId id="264"/>
          </p14:sldIdLst>
        </p14:section>
        <p14:section name="Field Study" id="{B6F60517-6901-866E-7906-BEBE5812CE4A}">
          <p14:sldIdLst>
            <p14:sldId id="265"/>
            <p14:sldId id="266"/>
          </p14:sldIdLst>
        </p14:section>
        <p14:section name="Mechanism and Impact" id="{1ADAD1A0-DB8B-29FB-4C57-9BDE5C329316}">
          <p14:sldIdLst>
            <p14:sldId id="267"/>
            <p14:sldId id="268"/>
            <p14:sldId id="269"/>
            <p14:sldId id="270"/>
          </p14:sldIdLst>
        </p14:section>
        <p14:section name="References" id="{A9ED3B68-87DB-F071-2821-876AE456CC60}">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888F4A-C3C6-93DA-57F3-0374A9DED741}" v="17" dt="2026-10-10T10:21:30.4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4233C"/>
                </a:solidFill>
                <a:latin typeface="+mn-lt"/>
              </a:defRPr>
            </a:pPr>
            <a:r>
              <a:rPr lang="en-US" sz="1400" b="0" i="0" u="none" strike="noStrike">
                <a:solidFill>
                  <a:srgbClr val="14233C"/>
                </a:solidFill>
                <a:latin typeface="+mn-lt"/>
              </a:rPr>
              <a:t>Waste level by material (%)</a:t>
            </a:r>
          </a:p>
        </c:rich>
      </c:tx>
      <c:overlay val="0"/>
    </c:title>
    <c:autoTitleDeleted val="0"/>
    <c:plotArea>
      <c:layout/>
      <c:barChart>
        <c:barDir val="col"/>
        <c:grouping val="clustered"/>
        <c:varyColors val="0"/>
        <c:ser>
          <c:idx val="0"/>
          <c:order val="0"/>
          <c:tx>
            <c:strRef>
              <c:f>Sheet1!$B$1</c:f>
              <c:strCache>
                <c:ptCount val="1"/>
                <c:pt idx="0">
                  <c:v>Waste level (%)</c:v>
                </c:pt>
              </c:strCache>
            </c:strRef>
          </c:tx>
          <c:spPr>
            <a:solidFill>
              <a:srgbClr val="C8961E"/>
            </a:solidFill>
            <a:effectLst/>
          </c:spPr>
          <c:invertIfNegative val="0"/>
          <c:dLbls>
            <c:numFmt formatCode="#,##0" sourceLinked="0"/>
            <c:spPr>
              <a:noFill/>
              <a:ln>
                <a:noFill/>
              </a:ln>
              <a:effectLst/>
            </c:spPr>
            <c:txPr>
              <a:bodyPr/>
              <a:lstStyle/>
              <a:p>
                <a:pPr>
                  <a:defRPr sz="12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D19</c:v>
                </c:pt>
                <c:pt idx="1">
                  <c:v>D16</c:v>
                </c:pt>
                <c:pt idx="2">
                  <c:v>D13</c:v>
                </c:pt>
                <c:pt idx="3">
                  <c:v>D10</c:v>
                </c:pt>
                <c:pt idx="4">
                  <c:v>K-300</c:v>
                </c:pt>
                <c:pt idx="5">
                  <c:v>Ø12</c:v>
                </c:pt>
                <c:pt idx="6">
                  <c:v>Ø10</c:v>
                </c:pt>
                <c:pt idx="7">
                  <c:v>Ø8</c:v>
                </c:pt>
              </c:strCache>
            </c:strRef>
          </c:cat>
          <c:val>
            <c:numRef>
              <c:f>Sheet1!$B$2:$B$9</c:f>
              <c:numCache>
                <c:formatCode>General</c:formatCode>
                <c:ptCount val="8"/>
                <c:pt idx="0">
                  <c:v>1</c:v>
                </c:pt>
                <c:pt idx="1">
                  <c:v>11</c:v>
                </c:pt>
                <c:pt idx="2">
                  <c:v>3</c:v>
                </c:pt>
                <c:pt idx="3">
                  <c:v>5</c:v>
                </c:pt>
                <c:pt idx="4">
                  <c:v>3</c:v>
                </c:pt>
                <c:pt idx="5">
                  <c:v>5</c:v>
                </c:pt>
                <c:pt idx="6">
                  <c:v>1</c:v>
                </c:pt>
                <c:pt idx="7">
                  <c:v>0</c:v>
                </c:pt>
              </c:numCache>
            </c:numRef>
          </c:val>
          <c:extLst>
            <c:ext xmlns:c16="http://schemas.microsoft.com/office/drawing/2014/chart" uri="{C3380CC4-5D6E-409C-BE32-E72D297353CC}">
              <c16:uniqueId val="{00000000-4668-BD47-8703-0EEE2F37DEB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4233C"/>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9DE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4233C"/>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05013E87-FA19-A64D-B6B1-00749819E5A5}" type="datetimeFigureOut">
              <a:rPr lang="en-US" smtClean="0"/>
              <a:t>10/10/2026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238BC09B-3C89-EA4D-856D-0F6CFE99B93A}" type="slidenum">
              <a:rPr lang="en-US" smtClean="0"/>
              <a:t>‹#›</a:t>
            </a:fld>
            <a:endParaRPr lang="en-US"/>
          </a:p>
        </p:txBody>
      </p:sp>
    </p:spTree>
    <p:extLst>
      <p:ext uri="{BB962C8B-B14F-4D97-AF65-F5344CB8AC3E}">
        <p14:creationId xmlns:p14="http://schemas.microsoft.com/office/powerpoint/2010/main" val="1479838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a:spLocks noGrp="1"/>
          </p:cNvSpPr>
          <p:nvPr>
            <p:ph type="title" idx="101" hasCustomPrompt="1"/>
          </p:nvPr>
        </p:nvSpPr>
        <p:spPr>
          <a:xfrm>
            <a:off x="548640" y="365760"/>
            <a:ext cx="8046720" cy="822960"/>
          </a:xfrm>
          <a:prstGeom prst="rect">
            <a:avLst/>
          </a:prstGeom>
          <a:noFill/>
          <a:ln/>
        </p:spPr>
        <p:txBody>
          <a:bodyPr wrap="square" rtlCol="0"/>
          <a:lstStyle>
            <a:lvl1pPr marL="0" indent="0">
              <a:buNone/>
              <a:defRPr lang="en-US" sz="3400" b="1" dirty="0">
                <a:solidFill>
                  <a:schemeClr val="bg1"/>
                </a:solidFill>
              </a:defRPr>
            </a:lvl1pPr>
          </a:lstStyle>
          <a:p>
            <a:pPr marL="0" indent="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ODY">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rgbClr val="7A8CA0"/>
                </a:solidFill>
              </a:rPr>
              <a:t>Civis Terra  |  Sustainable AI  |  Genesis Ideathon 2026</a:t>
            </a:r>
            <a:endParaRPr lang="en-US" sz="1000" dirty="0"/>
          </a:p>
        </p:txBody>
      </p:sp>
      <p:sp>
        <p:nvSpPr>
          <p:cNvPr id="3" name="Text 1"/>
          <p:cNvSpPr>
            <a:spLocks noGrp="1"/>
          </p:cNvSpPr>
          <p:nvPr>
            <p:ph type="title" idx="101" hasCustomPrompt="1"/>
          </p:nvPr>
        </p:nvSpPr>
        <p:spPr>
          <a:xfrm>
            <a:off x="457200" y="274320"/>
            <a:ext cx="8229600" cy="685800"/>
          </a:xfrm>
          <a:prstGeom prst="rect">
            <a:avLst/>
          </a:prstGeom>
          <a:noFill/>
          <a:ln/>
        </p:spPr>
        <p:txBody>
          <a:bodyPr wrap="square" rtlCol="0"/>
          <a:lstStyle>
            <a:lvl1pPr marL="0" indent="0">
              <a:buNone/>
              <a:defRPr lang="en-US" sz="2800" b="1" dirty="0">
                <a:solidFill>
                  <a:schemeClr val="tx1"/>
                </a:solidFill>
              </a:defRPr>
            </a:lvl1pPr>
          </a:lstStyle>
          <a:p>
            <a:pPr marL="0" indent="0">
              <a:buNone/>
            </a:pPr>
            <a:endParaRPr lang="en-US" sz="28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8CA0"/>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8CA0"/>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8046720" cy="822960"/>
          </a:xfrm>
          <a:prstGeom prst="rect">
            <a:avLst/>
          </a:prstGeom>
          <a:noFill/>
          <a:ln/>
        </p:spPr>
        <p:txBody>
          <a:bodyPr wrap="square" lIns="91440" tIns="45720" rIns="91440" bIns="45720" rtlCol="0" anchor="ctr"/>
          <a:lstStyle/>
          <a:p>
            <a:pPr algn="l"/>
            <a:r>
              <a:rPr lang="en-US" sz="4800">
                <a:ea typeface="Cambria"/>
              </a:rPr>
              <a:t>Sustainable AI</a:t>
            </a:r>
            <a:endParaRPr lang="en-US" sz="4800" b="0">
              <a:solidFill>
                <a:srgbClr val="000000"/>
              </a:solidFill>
              <a:ea typeface="Cambria"/>
            </a:endParaRPr>
          </a:p>
          <a:p>
            <a:pPr marL="0" indent="0">
              <a:buNone/>
            </a:pPr>
            <a:endParaRPr lang="en-US" sz="3400" dirty="0">
              <a:ea typeface="Cambria"/>
            </a:endParaRPr>
          </a:p>
        </p:txBody>
      </p:sp>
      <p:sp>
        <p:nvSpPr>
          <p:cNvPr id="4" name="Text 2"/>
          <p:cNvSpPr txBox="1"/>
          <p:nvPr/>
        </p:nvSpPr>
        <p:spPr>
          <a:xfrm>
            <a:off x="548640" y="1234440"/>
            <a:ext cx="8046720" cy="640080"/>
          </a:xfrm>
          <a:prstGeom prst="rect">
            <a:avLst/>
          </a:prstGeom>
          <a:noFill/>
          <a:ln/>
        </p:spPr>
        <p:txBody>
          <a:bodyPr wrap="square" lIns="0" tIns="0" rIns="0" bIns="0" rtlCol="0" anchor="t"/>
          <a:lstStyle/>
          <a:p>
            <a:pPr marL="0" indent="0">
              <a:buNone/>
            </a:pPr>
            <a:r>
              <a:rPr lang="en-US" sz="2000" dirty="0">
                <a:solidFill>
                  <a:schemeClr val="accent4"/>
                </a:solidFill>
              </a:rPr>
              <a:t>AI-Based Construction Material Quantity Estimation and Waste Reduction</a:t>
            </a:r>
            <a:endParaRPr lang="en-US" sz="2000" dirty="0"/>
          </a:p>
        </p:txBody>
      </p:sp>
      <p:sp>
        <p:nvSpPr>
          <p:cNvPr id="5" name="Shape 3"/>
          <p:cNvSpPr/>
          <p:nvPr/>
        </p:nvSpPr>
        <p:spPr>
          <a:xfrm>
            <a:off x="548640" y="1965960"/>
            <a:ext cx="8046720" cy="1600200"/>
          </a:xfrm>
          <a:prstGeom prst="roundRect">
            <a:avLst>
              <a:gd name="adj" fmla="val 5714"/>
            </a:avLst>
          </a:prstGeom>
          <a:solidFill>
            <a:schemeClr val="tx2"/>
          </a:solidFill>
          <a:ln w="12700">
            <a:solidFill>
              <a:schemeClr val="tx2"/>
            </a:solidFill>
            <a:prstDash val="solid"/>
          </a:ln>
        </p:spPr>
        <p:txBody>
          <a:bodyPr/>
          <a:lstStyle/>
          <a:p>
            <a:endParaRPr/>
          </a:p>
        </p:txBody>
      </p:sp>
      <p:sp>
        <p:nvSpPr>
          <p:cNvPr id="6" name="Text 4"/>
          <p:cNvSpPr txBox="1"/>
          <p:nvPr/>
        </p:nvSpPr>
        <p:spPr>
          <a:xfrm>
            <a:off x="777240" y="2057400"/>
            <a:ext cx="7589520" cy="1417320"/>
          </a:xfrm>
          <a:prstGeom prst="rect">
            <a:avLst/>
          </a:prstGeom>
          <a:noFill/>
          <a:ln/>
        </p:spPr>
        <p:txBody>
          <a:bodyPr wrap="square" lIns="0" tIns="0" rIns="0" bIns="0" rtlCol="0" anchor="ctr"/>
          <a:lstStyle/>
          <a:p>
            <a:pPr marL="0" indent="0">
              <a:spcAft>
                <a:spcPts val="600"/>
              </a:spcAft>
              <a:buNone/>
            </a:pPr>
            <a:r>
              <a:rPr lang="en-US" sz="1600" b="1" dirty="0">
                <a:solidFill>
                  <a:schemeClr val="accent4"/>
                </a:solidFill>
              </a:rPr>
              <a:t>TEAM NAME: </a:t>
            </a:r>
            <a:r>
              <a:rPr lang="en-US" sz="3000" b="1" dirty="0">
                <a:solidFill>
                  <a:schemeClr val="bg1"/>
                </a:solidFill>
                <a:latin typeface="Cambria" pitchFamily="34" charset="0"/>
                <a:ea typeface="Cambria" pitchFamily="34" charset="-122"/>
                <a:cs typeface="Cambria" pitchFamily="34" charset="-120"/>
              </a:rPr>
              <a:t>CIVIS TERRA</a:t>
            </a:r>
            <a:endParaRPr lang="en-US" sz="1600" dirty="0"/>
          </a:p>
          <a:p>
            <a:pPr marL="0" indent="0">
              <a:spcAft>
                <a:spcPts val="600"/>
              </a:spcAft>
              <a:buNone/>
            </a:pPr>
            <a:r>
              <a:rPr lang="en-US" sz="1600" b="1" dirty="0">
                <a:solidFill>
                  <a:schemeClr val="accent4"/>
                </a:solidFill>
              </a:rPr>
              <a:t>DOMAIN: </a:t>
            </a:r>
            <a:r>
              <a:rPr lang="en-US" sz="1600" b="1" dirty="0">
                <a:solidFill>
                  <a:schemeClr val="bg1"/>
                </a:solidFill>
              </a:rPr>
              <a:t>SPACE, AEROSPACE, MOBILITY AND NEXT GEN INFRASTRUCTURE</a:t>
            </a:r>
            <a:endParaRPr lang="en-US" sz="1600" dirty="0"/>
          </a:p>
          <a:p>
            <a:pPr marL="0" indent="0">
              <a:spcAft>
                <a:spcPts val="600"/>
              </a:spcAft>
              <a:buNone/>
            </a:pPr>
            <a:r>
              <a:rPr lang="en-US" sz="1400" b="1" dirty="0">
                <a:solidFill>
                  <a:schemeClr val="accent4"/>
                </a:solidFill>
              </a:rPr>
              <a:t>TEAM ID: </a:t>
            </a:r>
            <a:r>
              <a:rPr lang="en-US" sz="1400" dirty="0">
                <a:solidFill>
                  <a:schemeClr val="bg1"/>
                </a:solidFill>
              </a:rPr>
              <a:t>GEN26-A0H-I100</a:t>
            </a:r>
            <a:endParaRPr lang="en-US" sz="1600" dirty="0"/>
          </a:p>
        </p:txBody>
      </p:sp>
      <p:sp>
        <p:nvSpPr>
          <p:cNvPr id="7" name="Text 5"/>
          <p:cNvSpPr txBox="1"/>
          <p:nvPr/>
        </p:nvSpPr>
        <p:spPr>
          <a:xfrm>
            <a:off x="548640" y="3749040"/>
            <a:ext cx="8046720" cy="640080"/>
          </a:xfrm>
          <a:prstGeom prst="rect">
            <a:avLst/>
          </a:prstGeom>
          <a:noFill/>
          <a:ln/>
        </p:spPr>
        <p:txBody>
          <a:bodyPr wrap="square" lIns="0" tIns="0" rIns="0" bIns="0" rtlCol="0" anchor="t"/>
          <a:lstStyle/>
          <a:p>
            <a:pPr marL="0" indent="0">
              <a:spcAft>
                <a:spcPts val="400"/>
              </a:spcAft>
              <a:buNone/>
            </a:pPr>
            <a:r>
              <a:rPr lang="en-US" sz="1400" b="1" dirty="0">
                <a:solidFill>
                  <a:schemeClr val="accent4"/>
                </a:solidFill>
              </a:rPr>
              <a:t>Team Leader: </a:t>
            </a:r>
            <a:r>
              <a:rPr lang="en-US" sz="1400" dirty="0">
                <a:solidFill>
                  <a:schemeClr val="bg1"/>
                </a:solidFill>
              </a:rPr>
              <a:t>S Neal Anto</a:t>
            </a:r>
            <a:endParaRPr lang="en-US" sz="1400" dirty="0"/>
          </a:p>
          <a:p>
            <a:pPr marL="0" indent="0">
              <a:spcAft>
                <a:spcPts val="400"/>
              </a:spcAft>
              <a:buNone/>
            </a:pPr>
            <a:r>
              <a:rPr lang="en-US" sz="1400" b="1" dirty="0">
                <a:solidFill>
                  <a:schemeClr val="accent4"/>
                </a:solidFill>
              </a:rPr>
              <a:t>Team Members: </a:t>
            </a:r>
            <a:r>
              <a:rPr lang="en-US" sz="1400" dirty="0">
                <a:solidFill>
                  <a:schemeClr val="bg1"/>
                </a:solidFill>
              </a:rPr>
              <a:t>Vishnu Prasad M V, Boopeshwar S, Sasikiran Reddy M</a:t>
            </a:r>
            <a:endParaRPr lang="en-US" sz="1400" dirty="0"/>
          </a:p>
        </p:txBody>
      </p:sp>
      <p:sp>
        <p:nvSpPr>
          <p:cNvPr id="8" name="Text 6"/>
          <p:cNvSpPr txBox="1"/>
          <p:nvPr/>
        </p:nvSpPr>
        <p:spPr>
          <a:xfrm>
            <a:off x="548640" y="4526280"/>
            <a:ext cx="8046720" cy="274320"/>
          </a:xfrm>
          <a:prstGeom prst="rect">
            <a:avLst/>
          </a:prstGeom>
          <a:noFill/>
          <a:ln/>
        </p:spPr>
        <p:txBody>
          <a:bodyPr wrap="square" lIns="0" tIns="0" rIns="0" bIns="0" rtlCol="0" anchor="ctr"/>
          <a:lstStyle/>
          <a:p>
            <a:pPr marL="0" indent="0">
              <a:buNone/>
            </a:pPr>
            <a:r>
              <a:rPr lang="en-US" sz="1200" dirty="0">
                <a:solidFill>
                  <a:schemeClr val="accent6"/>
                </a:solidFill>
              </a:rPr>
              <a:t>Department of Civil Engineering  |  Amrita Vishwa Vidyapeetham, Coimbatore  |  Genesis Ideathon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rtlCol="0" anchor="ctr"/>
          <a:lstStyle/>
          <a:p>
            <a:pPr marL="0" indent="0">
              <a:buNone/>
            </a:pPr>
            <a:r>
              <a:rPr lang="en-US" sz="2800" b="1" dirty="0">
                <a:solidFill>
                  <a:schemeClr val="tx1"/>
                </a:solidFill>
              </a:rPr>
              <a:t>Problem Statement and Objectives</a:t>
            </a:r>
            <a:endParaRPr lang="en-US" sz="2800" dirty="0"/>
          </a:p>
        </p:txBody>
      </p:sp>
      <p:sp>
        <p:nvSpPr>
          <p:cNvPr id="3" name="Shape 1"/>
          <p:cNvSpPr/>
          <p:nvPr/>
        </p:nvSpPr>
        <p:spPr>
          <a:xfrm>
            <a:off x="457200" y="1143000"/>
            <a:ext cx="4023360" cy="3474720"/>
          </a:xfrm>
          <a:prstGeom prst="roundRect">
            <a:avLst>
              <a:gd name="adj" fmla="val 2632"/>
            </a:avLst>
          </a:prstGeom>
          <a:solidFill>
            <a:schemeClr val="bg2"/>
          </a:solidFill>
          <a:ln w="12700">
            <a:solidFill>
              <a:schemeClr val="bg2"/>
            </a:solidFill>
            <a:prstDash val="solid"/>
          </a:ln>
        </p:spPr>
        <p:txBody>
          <a:bodyPr/>
          <a:lstStyle/>
          <a:p>
            <a:endParaRPr/>
          </a:p>
        </p:txBody>
      </p:sp>
      <p:sp>
        <p:nvSpPr>
          <p:cNvPr id="4" name="Text 2"/>
          <p:cNvSpPr txBox="1"/>
          <p:nvPr/>
        </p:nvSpPr>
        <p:spPr>
          <a:xfrm>
            <a:off x="640080" y="1280160"/>
            <a:ext cx="3657600" cy="365760"/>
          </a:xfrm>
          <a:prstGeom prst="rect">
            <a:avLst/>
          </a:prstGeom>
          <a:noFill/>
          <a:ln/>
        </p:spPr>
        <p:txBody>
          <a:bodyPr wrap="square" lIns="0" tIns="0" rIns="0" bIns="0" rtlCol="0" anchor="ctr"/>
          <a:lstStyle/>
          <a:p>
            <a:pPr marL="0" indent="0">
              <a:buNone/>
            </a:pPr>
            <a:r>
              <a:rPr lang="en-US" sz="2000" b="1" dirty="0">
                <a:solidFill>
                  <a:schemeClr val="accent2"/>
                </a:solidFill>
                <a:latin typeface="Cambria" pitchFamily="34" charset="0"/>
                <a:ea typeface="Cambria" pitchFamily="34" charset="-122"/>
                <a:cs typeface="Cambria" pitchFamily="34" charset="-120"/>
              </a:rPr>
              <a:t>Problem Statement</a:t>
            </a:r>
            <a:endParaRPr lang="en-US" sz="2000" dirty="0"/>
          </a:p>
        </p:txBody>
      </p:sp>
      <p:sp>
        <p:nvSpPr>
          <p:cNvPr id="5" name="Text 3"/>
          <p:cNvSpPr txBox="1"/>
          <p:nvPr/>
        </p:nvSpPr>
        <p:spPr>
          <a:xfrm>
            <a:off x="640080" y="1737360"/>
            <a:ext cx="365760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Site engineers estimate material quantities from structural design, and the estimate rarely matches actual need.</a:t>
            </a:r>
            <a:endParaRPr lang="en-US" sz="1400" dirty="0"/>
          </a:p>
          <a:p>
            <a:pPr marL="342900" indent="-342900">
              <a:spcAft>
                <a:spcPts val="800"/>
              </a:spcAft>
              <a:buSzPct val="100000"/>
              <a:buChar char="•"/>
            </a:pPr>
            <a:r>
              <a:rPr lang="en-US" sz="1400" dirty="0">
                <a:solidFill>
                  <a:schemeClr val="tx1"/>
                </a:solidFill>
              </a:rPr>
              <a:t>To avoid work stoppages, extra material is ordered "just in case", for example 100 bags when 70 are needed.</a:t>
            </a:r>
            <a:endParaRPr lang="en-US" sz="1400" dirty="0"/>
          </a:p>
          <a:p>
            <a:pPr marL="342900" indent="-342900">
              <a:spcAft>
                <a:spcPts val="800"/>
              </a:spcAft>
              <a:buSzPct val="100000"/>
              <a:buChar char="•"/>
            </a:pPr>
            <a:r>
              <a:rPr lang="en-US" sz="1400" dirty="0">
                <a:solidFill>
                  <a:schemeClr val="tx1"/>
                </a:solidFill>
              </a:rPr>
              <a:t>The surplus becomes cost, storage burden and construction waste.</a:t>
            </a:r>
            <a:endParaRPr lang="en-US" sz="1400" dirty="0"/>
          </a:p>
          <a:p>
            <a:pPr marL="342900" indent="-342900">
              <a:spcAft>
                <a:spcPts val="800"/>
              </a:spcAft>
              <a:buSzPct val="100000"/>
              <a:buChar char="•"/>
            </a:pPr>
            <a:r>
              <a:rPr lang="en-US" sz="1400" dirty="0">
                <a:solidFill>
                  <a:schemeClr val="tx1"/>
                </a:solidFill>
              </a:rPr>
              <a:t>Small waste is not measured or recorded, so the problem stays invisible.</a:t>
            </a:r>
            <a:endParaRPr lang="en-US" sz="1400" dirty="0"/>
          </a:p>
        </p:txBody>
      </p:sp>
      <p:sp>
        <p:nvSpPr>
          <p:cNvPr id="6" name="Shape 4"/>
          <p:cNvSpPr/>
          <p:nvPr/>
        </p:nvSpPr>
        <p:spPr>
          <a:xfrm>
            <a:off x="4663440" y="1143000"/>
            <a:ext cx="4023360" cy="3474720"/>
          </a:xfrm>
          <a:prstGeom prst="roundRect">
            <a:avLst>
              <a:gd name="adj" fmla="val 2632"/>
            </a:avLst>
          </a:prstGeom>
          <a:solidFill>
            <a:schemeClr val="bg2"/>
          </a:solidFill>
          <a:ln w="12700">
            <a:solidFill>
              <a:schemeClr val="bg2"/>
            </a:solidFill>
            <a:prstDash val="solid"/>
          </a:ln>
        </p:spPr>
        <p:txBody>
          <a:bodyPr/>
          <a:lstStyle/>
          <a:p>
            <a:endParaRPr/>
          </a:p>
        </p:txBody>
      </p:sp>
      <p:sp>
        <p:nvSpPr>
          <p:cNvPr id="7" name="Text 5"/>
          <p:cNvSpPr txBox="1"/>
          <p:nvPr/>
        </p:nvSpPr>
        <p:spPr>
          <a:xfrm>
            <a:off x="4846320" y="1280160"/>
            <a:ext cx="3657600" cy="365760"/>
          </a:xfrm>
          <a:prstGeom prst="rect">
            <a:avLst/>
          </a:prstGeom>
          <a:noFill/>
          <a:ln/>
        </p:spPr>
        <p:txBody>
          <a:bodyPr wrap="square" lIns="0" tIns="0" rIns="0" bIns="0" rtlCol="0" anchor="ctr"/>
          <a:lstStyle/>
          <a:p>
            <a:pPr marL="0" indent="0">
              <a:buNone/>
            </a:pPr>
            <a:r>
              <a:rPr lang="en-US" sz="2000" b="1" dirty="0">
                <a:solidFill>
                  <a:schemeClr val="accent1"/>
                </a:solidFill>
                <a:latin typeface="Cambria" pitchFamily="34" charset="0"/>
                <a:ea typeface="Cambria" pitchFamily="34" charset="-122"/>
                <a:cs typeface="Cambria" pitchFamily="34" charset="-120"/>
              </a:rPr>
              <a:t>Objectives</a:t>
            </a:r>
            <a:endParaRPr lang="en-US" sz="2000" dirty="0"/>
          </a:p>
        </p:txBody>
      </p:sp>
      <p:sp>
        <p:nvSpPr>
          <p:cNvPr id="8" name="Text 6"/>
          <p:cNvSpPr txBox="1"/>
          <p:nvPr/>
        </p:nvSpPr>
        <p:spPr>
          <a:xfrm>
            <a:off x="4846320" y="1737360"/>
            <a:ext cx="365760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Predict accurate material quantities from project details.</a:t>
            </a:r>
            <a:endParaRPr lang="en-US" sz="1400" dirty="0"/>
          </a:p>
          <a:p>
            <a:pPr marL="342900" indent="-342900">
              <a:spcAft>
                <a:spcPts val="800"/>
              </a:spcAft>
              <a:buSzPct val="100000"/>
              <a:buChar char="•"/>
            </a:pPr>
            <a:r>
              <a:rPr lang="en-US" sz="1400" dirty="0">
                <a:solidFill>
                  <a:schemeClr val="tx1"/>
                </a:solidFill>
              </a:rPr>
              <a:t>Add a realistic, data-driven waste allowance for each material.</a:t>
            </a:r>
            <a:endParaRPr lang="en-US" sz="1400" dirty="0"/>
          </a:p>
          <a:p>
            <a:pPr marL="342900" indent="-342900">
              <a:spcAft>
                <a:spcPts val="800"/>
              </a:spcAft>
              <a:buSzPct val="100000"/>
              <a:buChar char="•"/>
            </a:pPr>
            <a:r>
              <a:rPr lang="en-US" sz="1400" dirty="0">
                <a:solidFill>
                  <a:schemeClr val="tx1"/>
                </a:solidFill>
              </a:rPr>
              <a:t>Record ordered, used and leftover quantities on site.</a:t>
            </a:r>
            <a:endParaRPr lang="en-US" sz="1400" dirty="0"/>
          </a:p>
          <a:p>
            <a:pPr marL="342900" indent="-342900">
              <a:spcAft>
                <a:spcPts val="800"/>
              </a:spcAft>
              <a:buSzPct val="100000"/>
              <a:buChar char="•"/>
            </a:pPr>
            <a:r>
              <a:rPr lang="en-US" sz="1400" dirty="0">
                <a:solidFill>
                  <a:schemeClr val="tx1"/>
                </a:solidFill>
              </a:rPr>
              <a:t>Suggest reuse of leftovers before disposal.</a:t>
            </a:r>
            <a:endParaRPr lang="en-US" sz="1400" dirty="0"/>
          </a:p>
          <a:p>
            <a:pPr marL="342900" indent="-342900">
              <a:spcAft>
                <a:spcPts val="800"/>
              </a:spcAft>
              <a:buSzPct val="100000"/>
              <a:buChar char="•"/>
            </a:pPr>
            <a:r>
              <a:rPr lang="en-US" sz="1400" dirty="0">
                <a:solidFill>
                  <a:schemeClr val="tx1"/>
                </a:solidFill>
              </a:rPr>
              <a:t>Learn from every project to improve future estimates.</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8CA0"/>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rtlCol="0" anchor="ctr"/>
          <a:lstStyle/>
          <a:p>
            <a:pPr marL="0" indent="0">
              <a:buNone/>
            </a:pPr>
            <a:r>
              <a:rPr lang="en-US" sz="2800" b="1" dirty="0">
                <a:solidFill>
                  <a:schemeClr val="tx1"/>
                </a:solidFill>
              </a:rPr>
              <a:t>Case Study 1: Estimator Allowances in Lagos</a:t>
            </a:r>
            <a:endParaRPr lang="en-US" sz="2800" dirty="0"/>
          </a:p>
        </p:txBody>
      </p:sp>
      <p:sp>
        <p:nvSpPr>
          <p:cNvPr id="3" name="Shape 1"/>
          <p:cNvSpPr/>
          <p:nvPr/>
        </p:nvSpPr>
        <p:spPr>
          <a:xfrm>
            <a:off x="457200" y="1051560"/>
            <a:ext cx="8229600" cy="548640"/>
          </a:xfrm>
          <a:prstGeom prst="roundRect">
            <a:avLst>
              <a:gd name="adj" fmla="val 16667"/>
            </a:avLst>
          </a:prstGeom>
          <a:solidFill>
            <a:schemeClr val="tx1"/>
          </a:solidFill>
          <a:ln w="12700">
            <a:solidFill>
              <a:schemeClr val="tx1"/>
            </a:solidFill>
            <a:prstDash val="solid"/>
          </a:ln>
        </p:spPr>
        <p:txBody>
          <a:bodyPr/>
          <a:lstStyle/>
          <a:p>
            <a:endParaRPr/>
          </a:p>
        </p:txBody>
      </p:sp>
      <p:sp>
        <p:nvSpPr>
          <p:cNvPr id="4" name="Text 2"/>
          <p:cNvSpPr txBox="1"/>
          <p:nvPr/>
        </p:nvSpPr>
        <p:spPr>
          <a:xfrm>
            <a:off x="640080" y="1051560"/>
            <a:ext cx="7863840" cy="548640"/>
          </a:xfrm>
          <a:prstGeom prst="rect">
            <a:avLst/>
          </a:prstGeom>
          <a:noFill/>
          <a:ln/>
        </p:spPr>
        <p:txBody>
          <a:bodyPr wrap="square" lIns="0" tIns="0" rIns="0" bIns="0" rtlCol="0" anchor="ctr"/>
          <a:lstStyle/>
          <a:p>
            <a:pPr marL="0" indent="0">
              <a:buNone/>
            </a:pPr>
            <a:r>
              <a:rPr lang="en-US" sz="1300" dirty="0">
                <a:solidFill>
                  <a:schemeClr val="bg1"/>
                </a:solidFill>
              </a:rPr>
              <a:t>Oladiran, O.J. (2018)  |  Journal of Sustainable Technology, 9(2), 88-98  |  97 building projects, Lagos, Nigeria</a:t>
            </a:r>
            <a:endParaRPr lang="en-US" sz="1300" dirty="0"/>
          </a:p>
        </p:txBody>
      </p:sp>
      <p:sp>
        <p:nvSpPr>
          <p:cNvPr id="5" name="Shape 3"/>
          <p:cNvSpPr/>
          <p:nvPr/>
        </p:nvSpPr>
        <p:spPr>
          <a:xfrm>
            <a:off x="457200" y="1783080"/>
            <a:ext cx="4023360" cy="2286000"/>
          </a:xfrm>
          <a:prstGeom prst="roundRect">
            <a:avLst>
              <a:gd name="adj" fmla="val 4000"/>
            </a:avLst>
          </a:prstGeom>
          <a:solidFill>
            <a:schemeClr val="bg2"/>
          </a:solidFill>
          <a:ln w="12700">
            <a:solidFill>
              <a:schemeClr val="bg2"/>
            </a:solidFill>
            <a:prstDash val="solid"/>
          </a:ln>
        </p:spPr>
        <p:txBody>
          <a:bodyPr/>
          <a:lstStyle/>
          <a:p>
            <a:endParaRPr/>
          </a:p>
        </p:txBody>
      </p:sp>
      <p:sp>
        <p:nvSpPr>
          <p:cNvPr id="6" name="Text 4"/>
          <p:cNvSpPr txBox="1"/>
          <p:nvPr/>
        </p:nvSpPr>
        <p:spPr>
          <a:xfrm>
            <a:off x="640080" y="1874520"/>
            <a:ext cx="3657600" cy="320040"/>
          </a:xfrm>
          <a:prstGeom prst="rect">
            <a:avLst/>
          </a:prstGeom>
          <a:noFill/>
          <a:ln/>
        </p:spPr>
        <p:txBody>
          <a:bodyPr wrap="square" lIns="0" tIns="0" rIns="0" bIns="0" rtlCol="0" anchor="ctr"/>
          <a:lstStyle/>
          <a:p>
            <a:pPr marL="0" indent="0">
              <a:buNone/>
            </a:pPr>
            <a:r>
              <a:rPr lang="en-US" sz="1600" b="1" dirty="0">
                <a:solidFill>
                  <a:schemeClr val="accent2"/>
                </a:solidFill>
                <a:latin typeface="Cambria" pitchFamily="34" charset="0"/>
                <a:ea typeface="Cambria" pitchFamily="34" charset="-122"/>
                <a:cs typeface="Cambria" pitchFamily="34" charset="-120"/>
              </a:rPr>
              <a:t>Method and Scope</a:t>
            </a:r>
            <a:endParaRPr lang="en-US" sz="1600" dirty="0"/>
          </a:p>
        </p:txBody>
      </p:sp>
      <p:sp>
        <p:nvSpPr>
          <p:cNvPr id="7" name="Text 5"/>
          <p:cNvSpPr txBox="1"/>
          <p:nvPr/>
        </p:nvSpPr>
        <p:spPr>
          <a:xfrm>
            <a:off x="640080" y="2240280"/>
            <a:ext cx="365760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Site waste measured directly for concrete, blocks, tiles, aluminium profiles and glass.</a:t>
            </a:r>
            <a:endParaRPr lang="en-US" sz="1400" dirty="0"/>
          </a:p>
          <a:p>
            <a:pPr marL="342900" indent="-342900">
              <a:spcAft>
                <a:spcPts val="500"/>
              </a:spcAft>
              <a:buSzPct val="100000"/>
              <a:buChar char="•"/>
            </a:pPr>
            <a:r>
              <a:rPr lang="en-US" sz="1400" dirty="0">
                <a:solidFill>
                  <a:schemeClr val="tx1"/>
                </a:solidFill>
              </a:rPr>
              <a:t>Estimators were asked for their waste allowances.</a:t>
            </a:r>
            <a:endParaRPr lang="en-US" sz="1400" dirty="0"/>
          </a:p>
          <a:p>
            <a:pPr marL="342900" indent="-342900">
              <a:spcAft>
                <a:spcPts val="500"/>
              </a:spcAft>
              <a:buSzPct val="100000"/>
              <a:buChar char="•"/>
            </a:pPr>
            <a:r>
              <a:rPr lang="en-US" sz="1400" dirty="0">
                <a:solidFill>
                  <a:schemeClr val="tx1"/>
                </a:solidFill>
              </a:rPr>
              <a:t>Regression models were built to predict waste quantity.</a:t>
            </a:r>
            <a:endParaRPr lang="en-US" sz="1400" dirty="0"/>
          </a:p>
        </p:txBody>
      </p:sp>
      <p:sp>
        <p:nvSpPr>
          <p:cNvPr id="8" name="Shape 6"/>
          <p:cNvSpPr/>
          <p:nvPr/>
        </p:nvSpPr>
        <p:spPr>
          <a:xfrm>
            <a:off x="4663440" y="1783080"/>
            <a:ext cx="4023360" cy="2286000"/>
          </a:xfrm>
          <a:prstGeom prst="roundRect">
            <a:avLst>
              <a:gd name="adj" fmla="val 4000"/>
            </a:avLst>
          </a:prstGeom>
          <a:solidFill>
            <a:schemeClr val="bg2"/>
          </a:solidFill>
          <a:ln w="12700">
            <a:solidFill>
              <a:schemeClr val="bg2"/>
            </a:solidFill>
            <a:prstDash val="solid"/>
          </a:ln>
        </p:spPr>
        <p:txBody>
          <a:bodyPr/>
          <a:lstStyle/>
          <a:p>
            <a:endParaRPr/>
          </a:p>
        </p:txBody>
      </p:sp>
      <p:sp>
        <p:nvSpPr>
          <p:cNvPr id="9" name="Text 7"/>
          <p:cNvSpPr txBox="1"/>
          <p:nvPr/>
        </p:nvSpPr>
        <p:spPr>
          <a:xfrm>
            <a:off x="4846320" y="1874520"/>
            <a:ext cx="3657600" cy="320040"/>
          </a:xfrm>
          <a:prstGeom prst="rect">
            <a:avLst/>
          </a:prstGeom>
          <a:noFill/>
          <a:ln/>
        </p:spPr>
        <p:txBody>
          <a:bodyPr wrap="square" lIns="0" tIns="0" rIns="0" bIns="0" rtlCol="0" anchor="ctr"/>
          <a:lstStyle/>
          <a:p>
            <a:pPr marL="0" indent="0">
              <a:buNone/>
            </a:pPr>
            <a:r>
              <a:rPr lang="en-US" sz="1600" b="1" dirty="0">
                <a:solidFill>
                  <a:schemeClr val="accent1"/>
                </a:solidFill>
                <a:latin typeface="Cambria" pitchFamily="34" charset="0"/>
                <a:ea typeface="Cambria" pitchFamily="34" charset="-122"/>
                <a:cs typeface="Cambria" pitchFamily="34" charset="-120"/>
              </a:rPr>
              <a:t>Key Findings</a:t>
            </a:r>
            <a:endParaRPr lang="en-US" sz="1600" dirty="0"/>
          </a:p>
        </p:txBody>
      </p:sp>
      <p:sp>
        <p:nvSpPr>
          <p:cNvPr id="10" name="Text 8"/>
          <p:cNvSpPr txBox="1"/>
          <p:nvPr/>
        </p:nvSpPr>
        <p:spPr>
          <a:xfrm>
            <a:off x="4846320" y="2240280"/>
            <a:ext cx="365760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Estimator allowances were 8.36% to 10.06%, not the assumed 5%.</a:t>
            </a:r>
            <a:endParaRPr lang="en-US" sz="1400" dirty="0"/>
          </a:p>
          <a:p>
            <a:pPr marL="342900" indent="-342900">
              <a:spcAft>
                <a:spcPts val="500"/>
              </a:spcAft>
              <a:buSzPct val="100000"/>
              <a:buChar char="•"/>
            </a:pPr>
            <a:r>
              <a:rPr lang="en-US" sz="1400" dirty="0">
                <a:solidFill>
                  <a:schemeClr val="tx1"/>
                </a:solidFill>
              </a:rPr>
              <a:t>Glass was the most underestimated material.</a:t>
            </a:r>
            <a:endParaRPr lang="en-US" sz="1400" dirty="0"/>
          </a:p>
          <a:p>
            <a:pPr marL="342900" indent="-342900">
              <a:spcAft>
                <a:spcPts val="500"/>
              </a:spcAft>
              <a:buSzPct val="100000"/>
              <a:buChar char="•"/>
            </a:pPr>
            <a:r>
              <a:rPr lang="en-US" sz="1400" dirty="0">
                <a:solidFill>
                  <a:schemeClr val="tx1"/>
                </a:solidFill>
              </a:rPr>
              <a:t>Glass had the highest waste and aluminium profiles the lowest.</a:t>
            </a:r>
            <a:endParaRPr lang="en-US" sz="1400" dirty="0"/>
          </a:p>
        </p:txBody>
      </p:sp>
      <p:sp>
        <p:nvSpPr>
          <p:cNvPr id="11" name="Shape 9"/>
          <p:cNvSpPr/>
          <p:nvPr/>
        </p:nvSpPr>
        <p:spPr>
          <a:xfrm>
            <a:off x="457200" y="4206240"/>
            <a:ext cx="8229600" cy="548640"/>
          </a:xfrm>
          <a:prstGeom prst="roundRect">
            <a:avLst>
              <a:gd name="adj" fmla="val 16667"/>
            </a:avLst>
          </a:prstGeom>
          <a:solidFill>
            <a:schemeClr val="bg2"/>
          </a:solidFill>
          <a:ln w="12700">
            <a:solidFill>
              <a:schemeClr val="bg2"/>
            </a:solidFill>
            <a:prstDash val="solid"/>
          </a:ln>
        </p:spPr>
        <p:txBody>
          <a:bodyPr/>
          <a:lstStyle/>
          <a:p>
            <a:endParaRPr/>
          </a:p>
        </p:txBody>
      </p:sp>
      <p:sp>
        <p:nvSpPr>
          <p:cNvPr id="12" name="Text 10"/>
          <p:cNvSpPr txBox="1"/>
          <p:nvPr/>
        </p:nvSpPr>
        <p:spPr>
          <a:xfrm>
            <a:off x="640080" y="4206240"/>
            <a:ext cx="7863840" cy="548640"/>
          </a:xfrm>
          <a:prstGeom prst="rect">
            <a:avLst/>
          </a:prstGeom>
          <a:noFill/>
          <a:ln/>
        </p:spPr>
        <p:txBody>
          <a:bodyPr wrap="square" lIns="0" tIns="0" rIns="0" bIns="0" rtlCol="0" anchor="ctr"/>
          <a:lstStyle/>
          <a:p>
            <a:pPr marL="0" indent="0">
              <a:buNone/>
            </a:pPr>
            <a:r>
              <a:rPr lang="en-US" sz="1300" b="1" dirty="0">
                <a:solidFill>
                  <a:schemeClr val="accent2"/>
                </a:solidFill>
              </a:rPr>
              <a:t>Relevance to Sustainable AI: </a:t>
            </a:r>
            <a:r>
              <a:rPr lang="en-US" sz="1300" dirty="0">
                <a:solidFill>
                  <a:schemeClr val="tx1"/>
                </a:solidFill>
              </a:rPr>
              <a:t>Supports data-driven waste factors and waste prediction models.</a:t>
            </a:r>
            <a:endParaRPr lang="en-US" sz="13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8CA0"/>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rtlCol="0" anchor="ctr"/>
          <a:lstStyle/>
          <a:p>
            <a:pPr marL="0" indent="0">
              <a:buNone/>
            </a:pPr>
            <a:r>
              <a:rPr lang="en-US" sz="2800" b="1" dirty="0">
                <a:solidFill>
                  <a:schemeClr val="tx1"/>
                </a:solidFill>
              </a:rPr>
              <a:t>Case Study 2: Waste on Public Projects</a:t>
            </a:r>
            <a:endParaRPr lang="en-US" sz="2800" dirty="0"/>
          </a:p>
        </p:txBody>
      </p:sp>
      <p:sp>
        <p:nvSpPr>
          <p:cNvPr id="3" name="Shape 1"/>
          <p:cNvSpPr/>
          <p:nvPr/>
        </p:nvSpPr>
        <p:spPr>
          <a:xfrm>
            <a:off x="457200" y="1051560"/>
            <a:ext cx="8229600" cy="548640"/>
          </a:xfrm>
          <a:prstGeom prst="roundRect">
            <a:avLst>
              <a:gd name="adj" fmla="val 16667"/>
            </a:avLst>
          </a:prstGeom>
          <a:solidFill>
            <a:schemeClr val="tx1"/>
          </a:solidFill>
          <a:ln w="12700">
            <a:solidFill>
              <a:schemeClr val="tx1"/>
            </a:solidFill>
            <a:prstDash val="solid"/>
          </a:ln>
        </p:spPr>
        <p:txBody>
          <a:bodyPr/>
          <a:lstStyle/>
          <a:p>
            <a:endParaRPr/>
          </a:p>
        </p:txBody>
      </p:sp>
      <p:sp>
        <p:nvSpPr>
          <p:cNvPr id="4" name="Text 2"/>
          <p:cNvSpPr txBox="1"/>
          <p:nvPr/>
        </p:nvSpPr>
        <p:spPr>
          <a:xfrm>
            <a:off x="640080" y="1051560"/>
            <a:ext cx="7863840" cy="548640"/>
          </a:xfrm>
          <a:prstGeom prst="rect">
            <a:avLst/>
          </a:prstGeom>
          <a:noFill/>
          <a:ln/>
        </p:spPr>
        <p:txBody>
          <a:bodyPr wrap="square" lIns="0" tIns="0" rIns="0" bIns="0" rtlCol="0" anchor="ctr"/>
          <a:lstStyle/>
          <a:p>
            <a:pPr marL="0" indent="0">
              <a:buNone/>
            </a:pPr>
            <a:r>
              <a:rPr lang="en-US" sz="1300" dirty="0">
                <a:solidFill>
                  <a:schemeClr val="bg1"/>
                </a:solidFill>
              </a:rPr>
              <a:t>Adewuyi, T.O., Idoro, G.I. &amp; Ikpo, I.J. (2014)  |  Civil Engineering Dimension, 16(2), 96-103  |  South-South Nigeria</a:t>
            </a:r>
            <a:endParaRPr lang="en-US" sz="1300" dirty="0"/>
          </a:p>
        </p:txBody>
      </p:sp>
      <p:sp>
        <p:nvSpPr>
          <p:cNvPr id="5" name="Shape 3"/>
          <p:cNvSpPr/>
          <p:nvPr/>
        </p:nvSpPr>
        <p:spPr>
          <a:xfrm>
            <a:off x="457200" y="1783080"/>
            <a:ext cx="4023360" cy="2286000"/>
          </a:xfrm>
          <a:prstGeom prst="roundRect">
            <a:avLst>
              <a:gd name="adj" fmla="val 4000"/>
            </a:avLst>
          </a:prstGeom>
          <a:solidFill>
            <a:schemeClr val="bg2"/>
          </a:solidFill>
          <a:ln w="12700">
            <a:solidFill>
              <a:schemeClr val="bg2"/>
            </a:solidFill>
            <a:prstDash val="solid"/>
          </a:ln>
        </p:spPr>
        <p:txBody>
          <a:bodyPr/>
          <a:lstStyle/>
          <a:p>
            <a:endParaRPr/>
          </a:p>
        </p:txBody>
      </p:sp>
      <p:sp>
        <p:nvSpPr>
          <p:cNvPr id="6" name="Text 4"/>
          <p:cNvSpPr txBox="1"/>
          <p:nvPr/>
        </p:nvSpPr>
        <p:spPr>
          <a:xfrm>
            <a:off x="640080" y="1874520"/>
            <a:ext cx="3657600" cy="320040"/>
          </a:xfrm>
          <a:prstGeom prst="rect">
            <a:avLst/>
          </a:prstGeom>
          <a:noFill/>
          <a:ln/>
        </p:spPr>
        <p:txBody>
          <a:bodyPr wrap="square" lIns="0" tIns="0" rIns="0" bIns="0" rtlCol="0" anchor="ctr"/>
          <a:lstStyle/>
          <a:p>
            <a:pPr marL="0" indent="0">
              <a:buNone/>
            </a:pPr>
            <a:r>
              <a:rPr lang="en-US" sz="1600" b="1" dirty="0">
                <a:solidFill>
                  <a:schemeClr val="accent2"/>
                </a:solidFill>
                <a:latin typeface="Cambria" pitchFamily="34" charset="0"/>
                <a:ea typeface="Cambria" pitchFamily="34" charset="-122"/>
                <a:cs typeface="Cambria" pitchFamily="34" charset="-120"/>
              </a:rPr>
              <a:t>Method and Scope</a:t>
            </a:r>
            <a:endParaRPr lang="en-US" sz="1600" dirty="0"/>
          </a:p>
        </p:txBody>
      </p:sp>
      <p:sp>
        <p:nvSpPr>
          <p:cNvPr id="7" name="Text 5"/>
          <p:cNvSpPr txBox="1"/>
          <p:nvPr/>
        </p:nvSpPr>
        <p:spPr>
          <a:xfrm>
            <a:off x="640080" y="2240280"/>
            <a:ext cx="365760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Data from 30 ongoing public building projects over six months.</a:t>
            </a:r>
            <a:endParaRPr lang="en-US" sz="1400" dirty="0"/>
          </a:p>
          <a:p>
            <a:pPr marL="342900" indent="-342900">
              <a:spcAft>
                <a:spcPts val="500"/>
              </a:spcAft>
              <a:buSzPct val="100000"/>
              <a:buChar char="•"/>
            </a:pPr>
            <a:r>
              <a:rPr lang="en-US" sz="1400" dirty="0">
                <a:solidFill>
                  <a:schemeClr val="tx1"/>
                </a:solidFill>
              </a:rPr>
              <a:t>Waste calculated as a percentage per material.</a:t>
            </a:r>
            <a:endParaRPr lang="en-US" sz="1400" dirty="0"/>
          </a:p>
          <a:p>
            <a:pPr marL="342900" indent="-342900">
              <a:spcAft>
                <a:spcPts val="500"/>
              </a:spcAft>
              <a:buSzPct val="100000"/>
              <a:buChar char="•"/>
            </a:pPr>
            <a:r>
              <a:rPr lang="en-US" sz="1400" dirty="0">
                <a:solidFill>
                  <a:schemeClr val="tx1"/>
                </a:solidFill>
              </a:rPr>
              <a:t>Paired t-test compared actual waste with allowable waste.</a:t>
            </a:r>
            <a:endParaRPr lang="en-US" sz="1400" dirty="0"/>
          </a:p>
        </p:txBody>
      </p:sp>
      <p:sp>
        <p:nvSpPr>
          <p:cNvPr id="8" name="Shape 6"/>
          <p:cNvSpPr/>
          <p:nvPr/>
        </p:nvSpPr>
        <p:spPr>
          <a:xfrm>
            <a:off x="4663440" y="1783080"/>
            <a:ext cx="4023360" cy="2286000"/>
          </a:xfrm>
          <a:prstGeom prst="roundRect">
            <a:avLst>
              <a:gd name="adj" fmla="val 4000"/>
            </a:avLst>
          </a:prstGeom>
          <a:solidFill>
            <a:schemeClr val="bg2"/>
          </a:solidFill>
          <a:ln w="12700">
            <a:solidFill>
              <a:schemeClr val="bg2"/>
            </a:solidFill>
            <a:prstDash val="solid"/>
          </a:ln>
        </p:spPr>
        <p:txBody>
          <a:bodyPr/>
          <a:lstStyle/>
          <a:p>
            <a:endParaRPr/>
          </a:p>
        </p:txBody>
      </p:sp>
      <p:sp>
        <p:nvSpPr>
          <p:cNvPr id="9" name="Text 7"/>
          <p:cNvSpPr txBox="1"/>
          <p:nvPr/>
        </p:nvSpPr>
        <p:spPr>
          <a:xfrm>
            <a:off x="4846320" y="1874520"/>
            <a:ext cx="3657600" cy="320040"/>
          </a:xfrm>
          <a:prstGeom prst="rect">
            <a:avLst/>
          </a:prstGeom>
          <a:noFill/>
          <a:ln/>
        </p:spPr>
        <p:txBody>
          <a:bodyPr wrap="square" lIns="0" tIns="0" rIns="0" bIns="0" rtlCol="0" anchor="ctr"/>
          <a:lstStyle/>
          <a:p>
            <a:pPr marL="0" indent="0">
              <a:buNone/>
            </a:pPr>
            <a:r>
              <a:rPr lang="en-US" sz="1600" b="1" dirty="0">
                <a:solidFill>
                  <a:schemeClr val="accent1"/>
                </a:solidFill>
                <a:latin typeface="Cambria" pitchFamily="34" charset="0"/>
                <a:ea typeface="Cambria" pitchFamily="34" charset="-122"/>
                <a:cs typeface="Cambria" pitchFamily="34" charset="-120"/>
              </a:rPr>
              <a:t>Key Findings</a:t>
            </a:r>
            <a:endParaRPr lang="en-US" sz="1600" dirty="0"/>
          </a:p>
        </p:txBody>
      </p:sp>
      <p:sp>
        <p:nvSpPr>
          <p:cNvPr id="10" name="Text 8"/>
          <p:cNvSpPr txBox="1"/>
          <p:nvPr/>
        </p:nvSpPr>
        <p:spPr>
          <a:xfrm>
            <a:off x="4846320" y="2240280"/>
            <a:ext cx="365760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Measured waste levels ranged from about 10% to 14.5% across materials.</a:t>
            </a:r>
            <a:endParaRPr lang="en-US" sz="1400" dirty="0"/>
          </a:p>
          <a:p>
            <a:pPr marL="342900" indent="-342900">
              <a:spcAft>
                <a:spcPts val="500"/>
              </a:spcAft>
              <a:buSzPct val="100000"/>
              <a:buChar char="•"/>
            </a:pPr>
            <a:r>
              <a:rPr lang="en-US" sz="1400" dirty="0">
                <a:solidFill>
                  <a:schemeClr val="tx1"/>
                </a:solidFill>
              </a:rPr>
              <a:t>Actual waste differed significantly from allowances (p &lt; 0.05).</a:t>
            </a:r>
            <a:endParaRPr lang="en-US" sz="1400" dirty="0"/>
          </a:p>
          <a:p>
            <a:pPr marL="342900" indent="-342900">
              <a:spcAft>
                <a:spcPts val="500"/>
              </a:spcAft>
              <a:buSzPct val="100000"/>
              <a:buChar char="•"/>
            </a:pPr>
            <a:r>
              <a:rPr lang="en-US" sz="1400" dirty="0">
                <a:solidFill>
                  <a:schemeClr val="tx1"/>
                </a:solidFill>
              </a:rPr>
              <a:t>Authors urged adopting measured values in estimates.</a:t>
            </a:r>
            <a:endParaRPr lang="en-US" sz="1400" dirty="0"/>
          </a:p>
        </p:txBody>
      </p:sp>
      <p:sp>
        <p:nvSpPr>
          <p:cNvPr id="11" name="Shape 9"/>
          <p:cNvSpPr/>
          <p:nvPr/>
        </p:nvSpPr>
        <p:spPr>
          <a:xfrm>
            <a:off x="457200" y="4206240"/>
            <a:ext cx="8229600" cy="548640"/>
          </a:xfrm>
          <a:prstGeom prst="roundRect">
            <a:avLst>
              <a:gd name="adj" fmla="val 16667"/>
            </a:avLst>
          </a:prstGeom>
          <a:solidFill>
            <a:schemeClr val="bg2"/>
          </a:solidFill>
          <a:ln w="12700">
            <a:solidFill>
              <a:schemeClr val="bg2"/>
            </a:solidFill>
            <a:prstDash val="solid"/>
          </a:ln>
        </p:spPr>
        <p:txBody>
          <a:bodyPr/>
          <a:lstStyle/>
          <a:p>
            <a:endParaRPr/>
          </a:p>
        </p:txBody>
      </p:sp>
      <p:sp>
        <p:nvSpPr>
          <p:cNvPr id="12" name="Text 10"/>
          <p:cNvSpPr txBox="1"/>
          <p:nvPr/>
        </p:nvSpPr>
        <p:spPr>
          <a:xfrm>
            <a:off x="640080" y="4206240"/>
            <a:ext cx="7863840" cy="548640"/>
          </a:xfrm>
          <a:prstGeom prst="rect">
            <a:avLst/>
          </a:prstGeom>
          <a:noFill/>
          <a:ln/>
        </p:spPr>
        <p:txBody>
          <a:bodyPr wrap="square" lIns="0" tIns="0" rIns="0" bIns="0" rtlCol="0" anchor="ctr"/>
          <a:lstStyle/>
          <a:p>
            <a:pPr marL="0" indent="0">
              <a:buNone/>
            </a:pPr>
            <a:r>
              <a:rPr lang="en-US" sz="1300" b="1" dirty="0">
                <a:solidFill>
                  <a:schemeClr val="accent2"/>
                </a:solidFill>
              </a:rPr>
              <a:t>Relevance to Sustainable AI: </a:t>
            </a:r>
            <a:r>
              <a:rPr lang="en-US" sz="1300" dirty="0">
                <a:solidFill>
                  <a:schemeClr val="tx1"/>
                </a:solidFill>
              </a:rPr>
              <a:t>Confirms fixed allowances do not reflect real site waste.</a:t>
            </a:r>
            <a:endParaRPr lang="en-US" sz="13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8CA0"/>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rtlCol="0" anchor="ctr"/>
          <a:lstStyle/>
          <a:p>
            <a:pPr marL="0" indent="0">
              <a:buNone/>
            </a:pPr>
            <a:r>
              <a:rPr lang="en-US" sz="2800" b="1" dirty="0">
                <a:solidFill>
                  <a:schemeClr val="tx1"/>
                </a:solidFill>
              </a:rPr>
              <a:t>Case Study 3: Waste Control on Building Sites</a:t>
            </a:r>
            <a:endParaRPr lang="en-US" sz="2800" dirty="0"/>
          </a:p>
        </p:txBody>
      </p:sp>
      <p:sp>
        <p:nvSpPr>
          <p:cNvPr id="3" name="Shape 1"/>
          <p:cNvSpPr/>
          <p:nvPr/>
        </p:nvSpPr>
        <p:spPr>
          <a:xfrm>
            <a:off x="457200" y="1051560"/>
            <a:ext cx="8229600" cy="548640"/>
          </a:xfrm>
          <a:prstGeom prst="roundRect">
            <a:avLst>
              <a:gd name="adj" fmla="val 16667"/>
            </a:avLst>
          </a:prstGeom>
          <a:solidFill>
            <a:schemeClr val="tx1"/>
          </a:solidFill>
          <a:ln w="12700">
            <a:solidFill>
              <a:schemeClr val="tx1"/>
            </a:solidFill>
            <a:prstDash val="solid"/>
          </a:ln>
        </p:spPr>
        <p:txBody>
          <a:bodyPr/>
          <a:lstStyle/>
          <a:p>
            <a:endParaRPr/>
          </a:p>
        </p:txBody>
      </p:sp>
      <p:sp>
        <p:nvSpPr>
          <p:cNvPr id="4" name="Text 2"/>
          <p:cNvSpPr txBox="1"/>
          <p:nvPr/>
        </p:nvSpPr>
        <p:spPr>
          <a:xfrm>
            <a:off x="640080" y="1051560"/>
            <a:ext cx="7863840" cy="548640"/>
          </a:xfrm>
          <a:prstGeom prst="rect">
            <a:avLst/>
          </a:prstGeom>
          <a:noFill/>
          <a:ln/>
        </p:spPr>
        <p:txBody>
          <a:bodyPr wrap="square" lIns="0" tIns="0" rIns="0" bIns="0" rtlCol="0" anchor="ctr"/>
          <a:lstStyle/>
          <a:p>
            <a:pPr marL="0" indent="0">
              <a:buNone/>
            </a:pPr>
            <a:r>
              <a:rPr lang="en-US" sz="1300" dirty="0">
                <a:solidFill>
                  <a:schemeClr val="bg1"/>
                </a:solidFill>
              </a:rPr>
              <a:t>Odusami, K.T., Oladiran, O.J. &amp; Ibrahim, S.A. (2012)  |  Evaluation of materials wastage and control, Nigeria</a:t>
            </a:r>
            <a:endParaRPr lang="en-US" sz="1300" dirty="0"/>
          </a:p>
        </p:txBody>
      </p:sp>
      <p:sp>
        <p:nvSpPr>
          <p:cNvPr id="5" name="Shape 3"/>
          <p:cNvSpPr/>
          <p:nvPr/>
        </p:nvSpPr>
        <p:spPr>
          <a:xfrm>
            <a:off x="457200" y="1783080"/>
            <a:ext cx="4023360" cy="2286000"/>
          </a:xfrm>
          <a:prstGeom prst="roundRect">
            <a:avLst>
              <a:gd name="adj" fmla="val 4000"/>
            </a:avLst>
          </a:prstGeom>
          <a:solidFill>
            <a:schemeClr val="bg2"/>
          </a:solidFill>
          <a:ln w="12700">
            <a:solidFill>
              <a:schemeClr val="bg2"/>
            </a:solidFill>
            <a:prstDash val="solid"/>
          </a:ln>
        </p:spPr>
        <p:txBody>
          <a:bodyPr/>
          <a:lstStyle/>
          <a:p>
            <a:endParaRPr/>
          </a:p>
        </p:txBody>
      </p:sp>
      <p:sp>
        <p:nvSpPr>
          <p:cNvPr id="6" name="Text 4"/>
          <p:cNvSpPr txBox="1"/>
          <p:nvPr/>
        </p:nvSpPr>
        <p:spPr>
          <a:xfrm>
            <a:off x="640080" y="1874520"/>
            <a:ext cx="3657600" cy="320040"/>
          </a:xfrm>
          <a:prstGeom prst="rect">
            <a:avLst/>
          </a:prstGeom>
          <a:noFill/>
          <a:ln/>
        </p:spPr>
        <p:txBody>
          <a:bodyPr wrap="square" lIns="0" tIns="0" rIns="0" bIns="0" rtlCol="0" anchor="ctr"/>
          <a:lstStyle/>
          <a:p>
            <a:pPr marL="0" indent="0">
              <a:buNone/>
            </a:pPr>
            <a:r>
              <a:rPr lang="en-US" sz="1600" b="1" dirty="0">
                <a:solidFill>
                  <a:schemeClr val="accent2"/>
                </a:solidFill>
                <a:latin typeface="Cambria" pitchFamily="34" charset="0"/>
                <a:ea typeface="Cambria" pitchFamily="34" charset="-122"/>
                <a:cs typeface="Cambria" pitchFamily="34" charset="-120"/>
              </a:rPr>
              <a:t>Method and Scope</a:t>
            </a:r>
            <a:endParaRPr lang="en-US" sz="1600" dirty="0"/>
          </a:p>
        </p:txBody>
      </p:sp>
      <p:sp>
        <p:nvSpPr>
          <p:cNvPr id="7" name="Text 5"/>
          <p:cNvSpPr txBox="1"/>
          <p:nvPr/>
        </p:nvSpPr>
        <p:spPr>
          <a:xfrm>
            <a:off x="640080" y="2240280"/>
            <a:ext cx="365760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Questionnaire survey of construction professionals on selected building sites.</a:t>
            </a:r>
            <a:endParaRPr lang="en-US" sz="1400" dirty="0"/>
          </a:p>
          <a:p>
            <a:pPr marL="342900" indent="-342900">
              <a:spcAft>
                <a:spcPts val="500"/>
              </a:spcAft>
              <a:buSzPct val="100000"/>
              <a:buChar char="•"/>
            </a:pPr>
            <a:r>
              <a:rPr lang="en-US" sz="1400" dirty="0">
                <a:solidFill>
                  <a:schemeClr val="tx1"/>
                </a:solidFill>
              </a:rPr>
              <a:t>Descriptive statistics used to analyse wastage and control strategies.</a:t>
            </a:r>
            <a:endParaRPr lang="en-US" sz="1400" dirty="0"/>
          </a:p>
        </p:txBody>
      </p:sp>
      <p:sp>
        <p:nvSpPr>
          <p:cNvPr id="8" name="Shape 6"/>
          <p:cNvSpPr/>
          <p:nvPr/>
        </p:nvSpPr>
        <p:spPr>
          <a:xfrm>
            <a:off x="4663440" y="1783080"/>
            <a:ext cx="4023360" cy="2286000"/>
          </a:xfrm>
          <a:prstGeom prst="roundRect">
            <a:avLst>
              <a:gd name="adj" fmla="val 4000"/>
            </a:avLst>
          </a:prstGeom>
          <a:solidFill>
            <a:schemeClr val="bg2"/>
          </a:solidFill>
          <a:ln w="12700">
            <a:solidFill>
              <a:schemeClr val="bg2"/>
            </a:solidFill>
            <a:prstDash val="solid"/>
          </a:ln>
        </p:spPr>
        <p:txBody>
          <a:bodyPr/>
          <a:lstStyle/>
          <a:p>
            <a:endParaRPr/>
          </a:p>
        </p:txBody>
      </p:sp>
      <p:sp>
        <p:nvSpPr>
          <p:cNvPr id="9" name="Text 7"/>
          <p:cNvSpPr txBox="1"/>
          <p:nvPr/>
        </p:nvSpPr>
        <p:spPr>
          <a:xfrm>
            <a:off x="4846320" y="1874520"/>
            <a:ext cx="3657600" cy="320040"/>
          </a:xfrm>
          <a:prstGeom prst="rect">
            <a:avLst/>
          </a:prstGeom>
          <a:noFill/>
          <a:ln/>
        </p:spPr>
        <p:txBody>
          <a:bodyPr wrap="square" lIns="0" tIns="0" rIns="0" bIns="0" rtlCol="0" anchor="ctr"/>
          <a:lstStyle/>
          <a:p>
            <a:pPr marL="0" indent="0">
              <a:buNone/>
            </a:pPr>
            <a:r>
              <a:rPr lang="en-US" sz="1600" b="1" dirty="0">
                <a:solidFill>
                  <a:schemeClr val="accent1"/>
                </a:solidFill>
                <a:latin typeface="Cambria" pitchFamily="34" charset="0"/>
                <a:ea typeface="Cambria" pitchFamily="34" charset="-122"/>
                <a:cs typeface="Cambria" pitchFamily="34" charset="-120"/>
              </a:rPr>
              <a:t>Key Findings</a:t>
            </a:r>
            <a:endParaRPr lang="en-US" sz="1600" dirty="0"/>
          </a:p>
        </p:txBody>
      </p:sp>
      <p:sp>
        <p:nvSpPr>
          <p:cNvPr id="10" name="Text 8"/>
          <p:cNvSpPr txBox="1"/>
          <p:nvPr/>
        </p:nvSpPr>
        <p:spPr>
          <a:xfrm>
            <a:off x="4846320" y="2240280"/>
            <a:ext cx="365760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Estimators' allowances were exceeded for most materials.</a:t>
            </a:r>
            <a:endParaRPr lang="en-US" sz="1400" dirty="0"/>
          </a:p>
          <a:p>
            <a:pPr marL="342900" indent="-342900">
              <a:spcAft>
                <a:spcPts val="500"/>
              </a:spcAft>
              <a:buSzPct val="100000"/>
              <a:buChar char="•"/>
            </a:pPr>
            <a:r>
              <a:rPr lang="en-US" sz="1400" dirty="0">
                <a:solidFill>
                  <a:schemeClr val="tx1"/>
                </a:solidFill>
              </a:rPr>
              <a:t>Block work had the highest level of waste generation.</a:t>
            </a:r>
            <a:endParaRPr lang="en-US" sz="1400" dirty="0"/>
          </a:p>
          <a:p>
            <a:pPr marL="342900" indent="-342900">
              <a:spcAft>
                <a:spcPts val="500"/>
              </a:spcAft>
              <a:buSzPct val="100000"/>
              <a:buChar char="•"/>
            </a:pPr>
            <a:r>
              <a:rPr lang="en-US" sz="1400" dirty="0">
                <a:solidFill>
                  <a:schemeClr val="tx1"/>
                </a:solidFill>
              </a:rPr>
              <a:t>Site supervision and control was the most important strategy.</a:t>
            </a:r>
            <a:endParaRPr lang="en-US" sz="1400" dirty="0"/>
          </a:p>
        </p:txBody>
      </p:sp>
      <p:sp>
        <p:nvSpPr>
          <p:cNvPr id="11" name="Shape 9"/>
          <p:cNvSpPr/>
          <p:nvPr/>
        </p:nvSpPr>
        <p:spPr>
          <a:xfrm>
            <a:off x="457200" y="4206240"/>
            <a:ext cx="8229600" cy="548640"/>
          </a:xfrm>
          <a:prstGeom prst="roundRect">
            <a:avLst>
              <a:gd name="adj" fmla="val 16667"/>
            </a:avLst>
          </a:prstGeom>
          <a:solidFill>
            <a:schemeClr val="bg2"/>
          </a:solidFill>
          <a:ln w="12700">
            <a:solidFill>
              <a:schemeClr val="bg2"/>
            </a:solidFill>
            <a:prstDash val="solid"/>
          </a:ln>
        </p:spPr>
        <p:txBody>
          <a:bodyPr/>
          <a:lstStyle/>
          <a:p>
            <a:endParaRPr/>
          </a:p>
        </p:txBody>
      </p:sp>
      <p:sp>
        <p:nvSpPr>
          <p:cNvPr id="12" name="Text 10"/>
          <p:cNvSpPr txBox="1"/>
          <p:nvPr/>
        </p:nvSpPr>
        <p:spPr>
          <a:xfrm>
            <a:off x="640080" y="4206240"/>
            <a:ext cx="7863840" cy="548640"/>
          </a:xfrm>
          <a:prstGeom prst="rect">
            <a:avLst/>
          </a:prstGeom>
          <a:noFill/>
          <a:ln/>
        </p:spPr>
        <p:txBody>
          <a:bodyPr wrap="square" lIns="0" tIns="0" rIns="0" bIns="0" rtlCol="0" anchor="ctr"/>
          <a:lstStyle/>
          <a:p>
            <a:pPr marL="0" indent="0">
              <a:buNone/>
            </a:pPr>
            <a:r>
              <a:rPr lang="en-US" sz="1300" b="1" dirty="0">
                <a:solidFill>
                  <a:schemeClr val="accent2"/>
                </a:solidFill>
              </a:rPr>
              <a:t>Relevance to Sustainable AI: </a:t>
            </a:r>
            <a:r>
              <a:rPr lang="en-US" sz="1300" dirty="0">
                <a:solidFill>
                  <a:schemeClr val="tx1"/>
                </a:solidFill>
              </a:rPr>
              <a:t>Shows monitoring on site is a key lever, which our tracking module supports.</a:t>
            </a:r>
            <a:endParaRPr lang="en-US" sz="13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8CA0"/>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rtlCol="0" anchor="ctr"/>
          <a:lstStyle/>
          <a:p>
            <a:pPr marL="0" indent="0">
              <a:buNone/>
            </a:pPr>
            <a:r>
              <a:rPr lang="en-US" sz="2800" b="1" dirty="0">
                <a:solidFill>
                  <a:schemeClr val="tx1"/>
                </a:solidFill>
              </a:rPr>
              <a:t>Case Study 4: Four-Storey Office Shop Building</a:t>
            </a:r>
            <a:endParaRPr lang="en-US" sz="2800" dirty="0"/>
          </a:p>
        </p:txBody>
      </p:sp>
      <p:sp>
        <p:nvSpPr>
          <p:cNvPr id="3" name="Shape 1"/>
          <p:cNvSpPr/>
          <p:nvPr/>
        </p:nvSpPr>
        <p:spPr>
          <a:xfrm>
            <a:off x="457200" y="1051560"/>
            <a:ext cx="8229600" cy="548640"/>
          </a:xfrm>
          <a:prstGeom prst="roundRect">
            <a:avLst>
              <a:gd name="adj" fmla="val 16667"/>
            </a:avLst>
          </a:prstGeom>
          <a:solidFill>
            <a:schemeClr val="tx1"/>
          </a:solidFill>
          <a:ln w="12700">
            <a:solidFill>
              <a:schemeClr val="tx1"/>
            </a:solidFill>
            <a:prstDash val="solid"/>
          </a:ln>
        </p:spPr>
        <p:txBody>
          <a:bodyPr/>
          <a:lstStyle/>
          <a:p>
            <a:endParaRPr/>
          </a:p>
        </p:txBody>
      </p:sp>
      <p:sp>
        <p:nvSpPr>
          <p:cNvPr id="4" name="Text 2"/>
          <p:cNvSpPr txBox="1"/>
          <p:nvPr/>
        </p:nvSpPr>
        <p:spPr>
          <a:xfrm>
            <a:off x="640080" y="1051560"/>
            <a:ext cx="7863840" cy="548640"/>
          </a:xfrm>
          <a:prstGeom prst="rect">
            <a:avLst/>
          </a:prstGeom>
          <a:noFill/>
          <a:ln/>
        </p:spPr>
        <p:txBody>
          <a:bodyPr wrap="square" lIns="0" tIns="0" rIns="0" bIns="0" rtlCol="0" anchor="ctr"/>
          <a:lstStyle/>
          <a:p>
            <a:pPr marL="0" indent="0">
              <a:buNone/>
            </a:pPr>
            <a:r>
              <a:rPr lang="en-US" sz="1300" dirty="0">
                <a:solidFill>
                  <a:schemeClr val="bg1"/>
                </a:solidFill>
              </a:rPr>
              <a:t>Asmi, A., Munandar, T.V. &amp; Djamaris, A. (2024)  |  Int. J. of Sustainable Construction Engineering and Technology, 15(4), 38-52</a:t>
            </a:r>
            <a:endParaRPr lang="en-US" sz="1300" dirty="0"/>
          </a:p>
        </p:txBody>
      </p:sp>
      <p:sp>
        <p:nvSpPr>
          <p:cNvPr id="5" name="Shape 3"/>
          <p:cNvSpPr/>
          <p:nvPr/>
        </p:nvSpPr>
        <p:spPr>
          <a:xfrm>
            <a:off x="457200" y="1783080"/>
            <a:ext cx="4023360" cy="2286000"/>
          </a:xfrm>
          <a:prstGeom prst="roundRect">
            <a:avLst>
              <a:gd name="adj" fmla="val 4000"/>
            </a:avLst>
          </a:prstGeom>
          <a:solidFill>
            <a:schemeClr val="bg2"/>
          </a:solidFill>
          <a:ln w="12700">
            <a:solidFill>
              <a:schemeClr val="bg2"/>
            </a:solidFill>
            <a:prstDash val="solid"/>
          </a:ln>
        </p:spPr>
        <p:txBody>
          <a:bodyPr/>
          <a:lstStyle/>
          <a:p>
            <a:endParaRPr/>
          </a:p>
        </p:txBody>
      </p:sp>
      <p:sp>
        <p:nvSpPr>
          <p:cNvPr id="6" name="Text 4"/>
          <p:cNvSpPr txBox="1"/>
          <p:nvPr/>
        </p:nvSpPr>
        <p:spPr>
          <a:xfrm>
            <a:off x="640080" y="1874520"/>
            <a:ext cx="3657600" cy="320040"/>
          </a:xfrm>
          <a:prstGeom prst="rect">
            <a:avLst/>
          </a:prstGeom>
          <a:noFill/>
          <a:ln/>
        </p:spPr>
        <p:txBody>
          <a:bodyPr wrap="square" lIns="0" tIns="0" rIns="0" bIns="0" rtlCol="0" anchor="ctr"/>
          <a:lstStyle/>
          <a:p>
            <a:pPr marL="0" indent="0">
              <a:buNone/>
            </a:pPr>
            <a:r>
              <a:rPr lang="en-US" sz="1600" b="1" dirty="0">
                <a:solidFill>
                  <a:schemeClr val="accent2"/>
                </a:solidFill>
                <a:latin typeface="Cambria" pitchFamily="34" charset="0"/>
                <a:ea typeface="Cambria" pitchFamily="34" charset="-122"/>
                <a:cs typeface="Cambria" pitchFamily="34" charset="-120"/>
              </a:rPr>
              <a:t>Method and Scope</a:t>
            </a:r>
            <a:endParaRPr lang="en-US" sz="1600" dirty="0"/>
          </a:p>
        </p:txBody>
      </p:sp>
      <p:sp>
        <p:nvSpPr>
          <p:cNvPr id="7" name="Text 5"/>
          <p:cNvSpPr txBox="1"/>
          <p:nvPr/>
        </p:nvSpPr>
        <p:spPr>
          <a:xfrm>
            <a:off x="640080" y="2240280"/>
            <a:ext cx="365760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On-site questionnaires analysed with SPSS.</a:t>
            </a:r>
            <a:endParaRPr lang="en-US" sz="1400" dirty="0"/>
          </a:p>
          <a:p>
            <a:pPr marL="342900" indent="-342900">
              <a:spcAft>
                <a:spcPts val="500"/>
              </a:spcAft>
              <a:buSzPct val="100000"/>
              <a:buChar char="•"/>
            </a:pPr>
            <a:r>
              <a:rPr lang="en-US" sz="1400" dirty="0">
                <a:solidFill>
                  <a:schemeClr val="tx1"/>
                </a:solidFill>
              </a:rPr>
              <a:t>Compared budget estimates, daily reports and purchase records.</a:t>
            </a:r>
            <a:endParaRPr lang="en-US" sz="1400" dirty="0"/>
          </a:p>
          <a:p>
            <a:pPr marL="342900" indent="-342900">
              <a:spcAft>
                <a:spcPts val="500"/>
              </a:spcAft>
              <a:buSzPct val="100000"/>
              <a:buChar char="•"/>
            </a:pPr>
            <a:r>
              <a:rPr lang="en-US" sz="1400" dirty="0">
                <a:solidFill>
                  <a:schemeClr val="tx1"/>
                </a:solidFill>
              </a:rPr>
              <a:t>Applied the waste hierarchy concept.</a:t>
            </a:r>
            <a:endParaRPr lang="en-US" sz="1400" dirty="0"/>
          </a:p>
        </p:txBody>
      </p:sp>
      <p:sp>
        <p:nvSpPr>
          <p:cNvPr id="8" name="Shape 6"/>
          <p:cNvSpPr/>
          <p:nvPr/>
        </p:nvSpPr>
        <p:spPr>
          <a:xfrm>
            <a:off x="4663440" y="1783080"/>
            <a:ext cx="4023360" cy="2286000"/>
          </a:xfrm>
          <a:prstGeom prst="roundRect">
            <a:avLst>
              <a:gd name="adj" fmla="val 4000"/>
            </a:avLst>
          </a:prstGeom>
          <a:solidFill>
            <a:schemeClr val="bg2"/>
          </a:solidFill>
          <a:ln w="12700">
            <a:solidFill>
              <a:schemeClr val="bg2"/>
            </a:solidFill>
            <a:prstDash val="solid"/>
          </a:ln>
        </p:spPr>
        <p:txBody>
          <a:bodyPr/>
          <a:lstStyle/>
          <a:p>
            <a:endParaRPr/>
          </a:p>
        </p:txBody>
      </p:sp>
      <p:sp>
        <p:nvSpPr>
          <p:cNvPr id="9" name="Text 7"/>
          <p:cNvSpPr txBox="1"/>
          <p:nvPr/>
        </p:nvSpPr>
        <p:spPr>
          <a:xfrm>
            <a:off x="4846320" y="1874520"/>
            <a:ext cx="3657600" cy="320040"/>
          </a:xfrm>
          <a:prstGeom prst="rect">
            <a:avLst/>
          </a:prstGeom>
          <a:noFill/>
          <a:ln/>
        </p:spPr>
        <p:txBody>
          <a:bodyPr wrap="square" lIns="0" tIns="0" rIns="0" bIns="0" rtlCol="0" anchor="ctr"/>
          <a:lstStyle/>
          <a:p>
            <a:pPr marL="0" indent="0">
              <a:buNone/>
            </a:pPr>
            <a:r>
              <a:rPr lang="en-US" sz="1600" b="1" dirty="0">
                <a:solidFill>
                  <a:schemeClr val="accent1"/>
                </a:solidFill>
                <a:latin typeface="Cambria" pitchFamily="34" charset="0"/>
                <a:ea typeface="Cambria" pitchFamily="34" charset="-122"/>
                <a:cs typeface="Cambria" pitchFamily="34" charset="-120"/>
              </a:rPr>
              <a:t>Key Findings</a:t>
            </a:r>
            <a:endParaRPr lang="en-US" sz="1600" dirty="0"/>
          </a:p>
        </p:txBody>
      </p:sp>
      <p:sp>
        <p:nvSpPr>
          <p:cNvPr id="10" name="Text 8"/>
          <p:cNvSpPr txBox="1"/>
          <p:nvPr/>
        </p:nvSpPr>
        <p:spPr>
          <a:xfrm>
            <a:off x="4846320" y="2240280"/>
            <a:ext cx="365760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Causes: inaccurate on-site measurements, complex design changes, design errors.</a:t>
            </a:r>
            <a:endParaRPr lang="en-US" sz="1400" dirty="0"/>
          </a:p>
          <a:p>
            <a:pPr marL="342900" indent="-342900">
              <a:spcAft>
                <a:spcPts val="500"/>
              </a:spcAft>
              <a:buSzPct val="100000"/>
              <a:buChar char="•"/>
            </a:pPr>
            <a:r>
              <a:rPr lang="en-US" sz="1400" dirty="0">
                <a:solidFill>
                  <a:schemeClr val="tx1"/>
                </a:solidFill>
              </a:rPr>
              <a:t>Most wasted: concrete, bricks and reinforcing steel.</a:t>
            </a:r>
            <a:endParaRPr lang="en-US" sz="1400" dirty="0"/>
          </a:p>
          <a:p>
            <a:pPr marL="342900" indent="-342900">
              <a:spcAft>
                <a:spcPts val="500"/>
              </a:spcAft>
              <a:buSzPct val="100000"/>
              <a:buChar char="•"/>
            </a:pPr>
            <a:r>
              <a:rPr lang="en-US" sz="1400" dirty="0">
                <a:solidFill>
                  <a:schemeClr val="tx1"/>
                </a:solidFill>
              </a:rPr>
              <a:t>Recommended accurate estimates, tracking and reuse of leftovers.</a:t>
            </a:r>
            <a:endParaRPr lang="en-US" sz="1400" dirty="0"/>
          </a:p>
        </p:txBody>
      </p:sp>
      <p:sp>
        <p:nvSpPr>
          <p:cNvPr id="11" name="Shape 9"/>
          <p:cNvSpPr/>
          <p:nvPr/>
        </p:nvSpPr>
        <p:spPr>
          <a:xfrm>
            <a:off x="457200" y="4206240"/>
            <a:ext cx="8229600" cy="548640"/>
          </a:xfrm>
          <a:prstGeom prst="roundRect">
            <a:avLst>
              <a:gd name="adj" fmla="val 16667"/>
            </a:avLst>
          </a:prstGeom>
          <a:solidFill>
            <a:schemeClr val="bg2"/>
          </a:solidFill>
          <a:ln w="12700">
            <a:solidFill>
              <a:schemeClr val="bg2"/>
            </a:solidFill>
            <a:prstDash val="solid"/>
          </a:ln>
        </p:spPr>
        <p:txBody>
          <a:bodyPr/>
          <a:lstStyle/>
          <a:p>
            <a:endParaRPr/>
          </a:p>
        </p:txBody>
      </p:sp>
      <p:sp>
        <p:nvSpPr>
          <p:cNvPr id="12" name="Text 10"/>
          <p:cNvSpPr txBox="1"/>
          <p:nvPr/>
        </p:nvSpPr>
        <p:spPr>
          <a:xfrm>
            <a:off x="640080" y="4206240"/>
            <a:ext cx="7863840" cy="548640"/>
          </a:xfrm>
          <a:prstGeom prst="rect">
            <a:avLst/>
          </a:prstGeom>
          <a:noFill/>
          <a:ln/>
        </p:spPr>
        <p:txBody>
          <a:bodyPr wrap="square" lIns="0" tIns="0" rIns="0" bIns="0" rtlCol="0" anchor="ctr"/>
          <a:lstStyle/>
          <a:p>
            <a:pPr marL="0" indent="0">
              <a:buNone/>
            </a:pPr>
            <a:r>
              <a:rPr lang="en-US" sz="1300" b="1" dirty="0">
                <a:solidFill>
                  <a:schemeClr val="accent2"/>
                </a:solidFill>
              </a:rPr>
              <a:t>Relevance to Sustainable AI: </a:t>
            </a:r>
            <a:r>
              <a:rPr lang="en-US" sz="1300" dirty="0">
                <a:solidFill>
                  <a:schemeClr val="tx1"/>
                </a:solidFill>
              </a:rPr>
              <a:t>Directly matches our three modules: estimate, track and reuse.</a:t>
            </a:r>
            <a:endParaRPr lang="en-US" sz="13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8CA0"/>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rtlCol="0" anchor="ctr"/>
          <a:lstStyle/>
          <a:p>
            <a:pPr marL="0" indent="0">
              <a:buNone/>
            </a:pPr>
            <a:r>
              <a:rPr lang="en-US" sz="2800" b="1" dirty="0">
                <a:solidFill>
                  <a:schemeClr val="tx1"/>
                </a:solidFill>
              </a:rPr>
              <a:t>Case Study 5: Change Orders in Road Projects</a:t>
            </a:r>
            <a:endParaRPr lang="en-US" sz="2800" dirty="0"/>
          </a:p>
        </p:txBody>
      </p:sp>
      <p:sp>
        <p:nvSpPr>
          <p:cNvPr id="3" name="Shape 1"/>
          <p:cNvSpPr/>
          <p:nvPr/>
        </p:nvSpPr>
        <p:spPr>
          <a:xfrm>
            <a:off x="457200" y="1051560"/>
            <a:ext cx="8229600" cy="548640"/>
          </a:xfrm>
          <a:prstGeom prst="roundRect">
            <a:avLst>
              <a:gd name="adj" fmla="val 16667"/>
            </a:avLst>
          </a:prstGeom>
          <a:solidFill>
            <a:schemeClr val="tx1"/>
          </a:solidFill>
          <a:ln w="12700">
            <a:solidFill>
              <a:schemeClr val="tx1"/>
            </a:solidFill>
            <a:prstDash val="solid"/>
          </a:ln>
        </p:spPr>
        <p:txBody>
          <a:bodyPr/>
          <a:lstStyle/>
          <a:p>
            <a:endParaRPr/>
          </a:p>
        </p:txBody>
      </p:sp>
      <p:sp>
        <p:nvSpPr>
          <p:cNvPr id="4" name="Text 2"/>
          <p:cNvSpPr txBox="1"/>
          <p:nvPr/>
        </p:nvSpPr>
        <p:spPr>
          <a:xfrm>
            <a:off x="640080" y="1051560"/>
            <a:ext cx="7863840" cy="548640"/>
          </a:xfrm>
          <a:prstGeom prst="rect">
            <a:avLst/>
          </a:prstGeom>
          <a:noFill/>
          <a:ln/>
        </p:spPr>
        <p:txBody>
          <a:bodyPr wrap="square" lIns="0" tIns="0" rIns="0" bIns="0" rtlCol="0" anchor="ctr"/>
          <a:lstStyle/>
          <a:p>
            <a:pPr marL="0" indent="0">
              <a:buNone/>
            </a:pPr>
            <a:r>
              <a:rPr lang="en-US" sz="1300" dirty="0">
                <a:solidFill>
                  <a:schemeClr val="bg1"/>
                </a:solidFill>
              </a:rPr>
              <a:t>Sulistio, H. &amp; Waty, M. (2024)  |  Planning Malaysia, 22(2), 533-549  |  700 respondents</a:t>
            </a:r>
            <a:endParaRPr lang="en-US" sz="1300" dirty="0"/>
          </a:p>
        </p:txBody>
      </p:sp>
      <p:sp>
        <p:nvSpPr>
          <p:cNvPr id="5" name="Shape 3"/>
          <p:cNvSpPr/>
          <p:nvPr/>
        </p:nvSpPr>
        <p:spPr>
          <a:xfrm>
            <a:off x="457200" y="1783080"/>
            <a:ext cx="4023360" cy="2286000"/>
          </a:xfrm>
          <a:prstGeom prst="roundRect">
            <a:avLst>
              <a:gd name="adj" fmla="val 4000"/>
            </a:avLst>
          </a:prstGeom>
          <a:solidFill>
            <a:schemeClr val="bg2"/>
          </a:solidFill>
          <a:ln w="12700">
            <a:solidFill>
              <a:schemeClr val="bg2"/>
            </a:solidFill>
            <a:prstDash val="solid"/>
          </a:ln>
        </p:spPr>
        <p:txBody>
          <a:bodyPr/>
          <a:lstStyle/>
          <a:p>
            <a:endParaRPr/>
          </a:p>
        </p:txBody>
      </p:sp>
      <p:sp>
        <p:nvSpPr>
          <p:cNvPr id="6" name="Text 4"/>
          <p:cNvSpPr txBox="1"/>
          <p:nvPr/>
        </p:nvSpPr>
        <p:spPr>
          <a:xfrm>
            <a:off x="640080" y="1874520"/>
            <a:ext cx="3657600" cy="320040"/>
          </a:xfrm>
          <a:prstGeom prst="rect">
            <a:avLst/>
          </a:prstGeom>
          <a:noFill/>
          <a:ln/>
        </p:spPr>
        <p:txBody>
          <a:bodyPr wrap="square" lIns="0" tIns="0" rIns="0" bIns="0" rtlCol="0" anchor="ctr"/>
          <a:lstStyle/>
          <a:p>
            <a:pPr marL="0" indent="0">
              <a:buNone/>
            </a:pPr>
            <a:r>
              <a:rPr lang="en-US" sz="1600" b="1" dirty="0">
                <a:solidFill>
                  <a:schemeClr val="accent2"/>
                </a:solidFill>
                <a:latin typeface="Cambria" pitchFamily="34" charset="0"/>
                <a:ea typeface="Cambria" pitchFamily="34" charset="-122"/>
                <a:cs typeface="Cambria" pitchFamily="34" charset="-120"/>
              </a:rPr>
              <a:t>Method and Scope</a:t>
            </a:r>
            <a:endParaRPr lang="en-US" sz="1600" dirty="0"/>
          </a:p>
        </p:txBody>
      </p:sp>
      <p:sp>
        <p:nvSpPr>
          <p:cNvPr id="7" name="Text 5"/>
          <p:cNvSpPr txBox="1"/>
          <p:nvPr/>
        </p:nvSpPr>
        <p:spPr>
          <a:xfrm>
            <a:off x="640080" y="2240280"/>
            <a:ext cx="365760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Interviews and a questionnaire built with the Delphi method.</a:t>
            </a:r>
            <a:endParaRPr lang="en-US" sz="1400" dirty="0"/>
          </a:p>
          <a:p>
            <a:pPr marL="342900" indent="-342900">
              <a:spcAft>
                <a:spcPts val="500"/>
              </a:spcAft>
              <a:buSzPct val="100000"/>
              <a:buChar char="•"/>
            </a:pPr>
            <a:r>
              <a:rPr lang="en-US" sz="1400" dirty="0">
                <a:solidFill>
                  <a:schemeClr val="tx1"/>
                </a:solidFill>
              </a:rPr>
              <a:t>Respondents: owners, consultants and contractors.</a:t>
            </a:r>
            <a:endParaRPr lang="en-US" sz="1400" dirty="0"/>
          </a:p>
          <a:p>
            <a:pPr marL="342900" indent="-342900">
              <a:spcAft>
                <a:spcPts val="500"/>
              </a:spcAft>
              <a:buSzPct val="100000"/>
              <a:buChar char="•"/>
            </a:pPr>
            <a:r>
              <a:rPr lang="en-US" sz="1400" dirty="0">
                <a:solidFill>
                  <a:schemeClr val="tx1"/>
                </a:solidFill>
              </a:rPr>
              <a:t>Factor analysis and PLS-SEM modelling.</a:t>
            </a:r>
            <a:endParaRPr lang="en-US" sz="1400" dirty="0"/>
          </a:p>
        </p:txBody>
      </p:sp>
      <p:sp>
        <p:nvSpPr>
          <p:cNvPr id="8" name="Shape 6"/>
          <p:cNvSpPr/>
          <p:nvPr/>
        </p:nvSpPr>
        <p:spPr>
          <a:xfrm>
            <a:off x="4663440" y="1783080"/>
            <a:ext cx="4023360" cy="2286000"/>
          </a:xfrm>
          <a:prstGeom prst="roundRect">
            <a:avLst>
              <a:gd name="adj" fmla="val 4000"/>
            </a:avLst>
          </a:prstGeom>
          <a:solidFill>
            <a:schemeClr val="bg2"/>
          </a:solidFill>
          <a:ln w="12700">
            <a:solidFill>
              <a:schemeClr val="bg2"/>
            </a:solidFill>
            <a:prstDash val="solid"/>
          </a:ln>
        </p:spPr>
        <p:txBody>
          <a:bodyPr/>
          <a:lstStyle/>
          <a:p>
            <a:endParaRPr/>
          </a:p>
        </p:txBody>
      </p:sp>
      <p:sp>
        <p:nvSpPr>
          <p:cNvPr id="9" name="Text 7"/>
          <p:cNvSpPr txBox="1"/>
          <p:nvPr/>
        </p:nvSpPr>
        <p:spPr>
          <a:xfrm>
            <a:off x="4846320" y="1874520"/>
            <a:ext cx="3657600" cy="320040"/>
          </a:xfrm>
          <a:prstGeom prst="rect">
            <a:avLst/>
          </a:prstGeom>
          <a:noFill/>
          <a:ln/>
        </p:spPr>
        <p:txBody>
          <a:bodyPr wrap="square" lIns="0" tIns="0" rIns="0" bIns="0" rtlCol="0" anchor="ctr"/>
          <a:lstStyle/>
          <a:p>
            <a:pPr marL="0" indent="0">
              <a:buNone/>
            </a:pPr>
            <a:r>
              <a:rPr lang="en-US" sz="1600" b="1" dirty="0">
                <a:solidFill>
                  <a:schemeClr val="accent1"/>
                </a:solidFill>
                <a:latin typeface="Cambria" pitchFamily="34" charset="0"/>
                <a:ea typeface="Cambria" pitchFamily="34" charset="-122"/>
                <a:cs typeface="Cambria" pitchFamily="34" charset="-120"/>
              </a:rPr>
              <a:t>Key Findings</a:t>
            </a:r>
            <a:endParaRPr lang="en-US" sz="1600" dirty="0"/>
          </a:p>
        </p:txBody>
      </p:sp>
      <p:sp>
        <p:nvSpPr>
          <p:cNvPr id="10" name="Text 8"/>
          <p:cNvSpPr txBox="1"/>
          <p:nvPr/>
        </p:nvSpPr>
        <p:spPr>
          <a:xfrm>
            <a:off x="4846320" y="2240280"/>
            <a:ext cx="365760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Change orders explained 73.3% of the modelled waste impact.</a:t>
            </a:r>
            <a:endParaRPr lang="en-US" sz="1400" dirty="0"/>
          </a:p>
          <a:p>
            <a:pPr marL="342900" indent="-342900">
              <a:spcAft>
                <a:spcPts val="500"/>
              </a:spcAft>
              <a:buSzPct val="100000"/>
              <a:buChar char="•"/>
            </a:pPr>
            <a:r>
              <a:rPr lang="en-US" sz="1400" dirty="0">
                <a:solidFill>
                  <a:schemeClr val="tx1"/>
                </a:solidFill>
              </a:rPr>
              <a:t>Top indicators: slow drawing revisions, on-site damage, inaccurate measurements, wrong storage.</a:t>
            </a:r>
            <a:endParaRPr lang="en-US" sz="1400" dirty="0"/>
          </a:p>
          <a:p>
            <a:pPr marL="342900" indent="-342900">
              <a:spcAft>
                <a:spcPts val="500"/>
              </a:spcAft>
              <a:buSzPct val="100000"/>
              <a:buChar char="•"/>
            </a:pPr>
            <a:r>
              <a:rPr lang="en-US" sz="1400" dirty="0">
                <a:solidFill>
                  <a:schemeClr val="tx1"/>
                </a:solidFill>
              </a:rPr>
              <a:t>Ordering errors causing excess or shortage were identified.</a:t>
            </a:r>
            <a:endParaRPr lang="en-US" sz="1400" dirty="0"/>
          </a:p>
        </p:txBody>
      </p:sp>
      <p:sp>
        <p:nvSpPr>
          <p:cNvPr id="11" name="Shape 9"/>
          <p:cNvSpPr/>
          <p:nvPr/>
        </p:nvSpPr>
        <p:spPr>
          <a:xfrm>
            <a:off x="457200" y="4206240"/>
            <a:ext cx="8229600" cy="548640"/>
          </a:xfrm>
          <a:prstGeom prst="roundRect">
            <a:avLst>
              <a:gd name="adj" fmla="val 16667"/>
            </a:avLst>
          </a:prstGeom>
          <a:solidFill>
            <a:schemeClr val="bg2"/>
          </a:solidFill>
          <a:ln w="12700">
            <a:solidFill>
              <a:schemeClr val="bg2"/>
            </a:solidFill>
            <a:prstDash val="solid"/>
          </a:ln>
        </p:spPr>
        <p:txBody>
          <a:bodyPr/>
          <a:lstStyle/>
          <a:p>
            <a:endParaRPr/>
          </a:p>
        </p:txBody>
      </p:sp>
      <p:sp>
        <p:nvSpPr>
          <p:cNvPr id="12" name="Text 10"/>
          <p:cNvSpPr txBox="1"/>
          <p:nvPr/>
        </p:nvSpPr>
        <p:spPr>
          <a:xfrm>
            <a:off x="640080" y="4206240"/>
            <a:ext cx="7863840" cy="548640"/>
          </a:xfrm>
          <a:prstGeom prst="rect">
            <a:avLst/>
          </a:prstGeom>
          <a:noFill/>
          <a:ln/>
        </p:spPr>
        <p:txBody>
          <a:bodyPr wrap="square" lIns="0" tIns="0" rIns="0" bIns="0" rtlCol="0" anchor="ctr"/>
          <a:lstStyle/>
          <a:p>
            <a:pPr marL="0" indent="0">
              <a:buNone/>
            </a:pPr>
            <a:r>
              <a:rPr lang="en-US" sz="1300" b="1" dirty="0">
                <a:solidFill>
                  <a:schemeClr val="accent2"/>
                </a:solidFill>
              </a:rPr>
              <a:t>Relevance to Sustainable AI: </a:t>
            </a:r>
            <a:r>
              <a:rPr lang="en-US" sz="1300" dirty="0">
                <a:solidFill>
                  <a:schemeClr val="tx1"/>
                </a:solidFill>
              </a:rPr>
              <a:t>Design changes must be easy to update so quantities stay current.</a:t>
            </a:r>
            <a:endParaRPr lang="en-US" sz="13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8CA0"/>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rtlCol="0" anchor="ctr"/>
          <a:lstStyle/>
          <a:p>
            <a:pPr marL="0" indent="0">
              <a:buNone/>
            </a:pPr>
            <a:r>
              <a:rPr lang="en-US" sz="2800" b="1" dirty="0">
                <a:solidFill>
                  <a:schemeClr val="tx1"/>
                </a:solidFill>
              </a:rPr>
              <a:t>Case Study 6: Lean Construction on a Residential Building</a:t>
            </a:r>
            <a:endParaRPr lang="en-US" sz="2800" dirty="0"/>
          </a:p>
        </p:txBody>
      </p:sp>
      <p:sp>
        <p:nvSpPr>
          <p:cNvPr id="3" name="Shape 1"/>
          <p:cNvSpPr/>
          <p:nvPr/>
        </p:nvSpPr>
        <p:spPr>
          <a:xfrm>
            <a:off x="457200" y="1051560"/>
            <a:ext cx="8229600" cy="548640"/>
          </a:xfrm>
          <a:prstGeom prst="roundRect">
            <a:avLst>
              <a:gd name="adj" fmla="val 16667"/>
            </a:avLst>
          </a:prstGeom>
          <a:solidFill>
            <a:schemeClr val="tx1"/>
          </a:solidFill>
          <a:ln w="12700">
            <a:solidFill>
              <a:schemeClr val="tx1"/>
            </a:solidFill>
            <a:prstDash val="solid"/>
          </a:ln>
        </p:spPr>
        <p:txBody>
          <a:bodyPr/>
          <a:lstStyle/>
          <a:p>
            <a:endParaRPr/>
          </a:p>
        </p:txBody>
      </p:sp>
      <p:sp>
        <p:nvSpPr>
          <p:cNvPr id="4" name="Text 2"/>
          <p:cNvSpPr txBox="1"/>
          <p:nvPr/>
        </p:nvSpPr>
        <p:spPr>
          <a:xfrm>
            <a:off x="640080" y="1051560"/>
            <a:ext cx="7863840" cy="548640"/>
          </a:xfrm>
          <a:prstGeom prst="rect">
            <a:avLst/>
          </a:prstGeom>
          <a:noFill/>
          <a:ln/>
        </p:spPr>
        <p:txBody>
          <a:bodyPr wrap="square" lIns="0" tIns="0" rIns="0" bIns="0" rtlCol="0" anchor="ctr"/>
          <a:lstStyle/>
          <a:p>
            <a:pPr marL="0" indent="0">
              <a:buNone/>
            </a:pPr>
            <a:r>
              <a:rPr lang="en-US" sz="1300" dirty="0">
                <a:solidFill>
                  <a:schemeClr val="bg1"/>
                </a:solidFill>
              </a:rPr>
              <a:t>Sapitri, Oktaviani, A. &amp; Jusoh, M.N.H. (2026)  |  Evergreen, 13(02), 851-862  |  Waste level = waste volume / installed material x 100</a:t>
            </a:r>
            <a:endParaRPr lang="en-US" sz="1300" dirty="0"/>
          </a:p>
        </p:txBody>
      </p:sp>
      <p:graphicFrame>
        <p:nvGraphicFramePr>
          <p:cNvPr id="5" name="Chart 0"/>
          <p:cNvGraphicFramePr/>
          <p:nvPr/>
        </p:nvGraphicFramePr>
        <p:xfrm>
          <a:off x="457200" y="1783080"/>
          <a:ext cx="457200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212080" y="1783080"/>
            <a:ext cx="3474720" cy="2834640"/>
          </a:xfrm>
          <a:prstGeom prst="roundRect">
            <a:avLst>
              <a:gd name="adj" fmla="val 3226"/>
            </a:avLst>
          </a:prstGeom>
          <a:solidFill>
            <a:schemeClr val="bg2"/>
          </a:solidFill>
          <a:ln w="12700">
            <a:solidFill>
              <a:schemeClr val="bg2"/>
            </a:solidFill>
            <a:prstDash val="solid"/>
          </a:ln>
        </p:spPr>
        <p:txBody>
          <a:bodyPr/>
          <a:lstStyle/>
          <a:p>
            <a:endParaRPr/>
          </a:p>
        </p:txBody>
      </p:sp>
      <p:sp>
        <p:nvSpPr>
          <p:cNvPr id="7" name="Text 4"/>
          <p:cNvSpPr txBox="1"/>
          <p:nvPr/>
        </p:nvSpPr>
        <p:spPr>
          <a:xfrm>
            <a:off x="5394960" y="1874520"/>
            <a:ext cx="3108960" cy="320040"/>
          </a:xfrm>
          <a:prstGeom prst="rect">
            <a:avLst/>
          </a:prstGeom>
          <a:noFill/>
          <a:ln/>
        </p:spPr>
        <p:txBody>
          <a:bodyPr wrap="square" lIns="0" tIns="0" rIns="0" bIns="0" rtlCol="0" anchor="ctr"/>
          <a:lstStyle/>
          <a:p>
            <a:pPr marL="0" indent="0">
              <a:buNone/>
            </a:pPr>
            <a:r>
              <a:rPr lang="en-US" sz="1600" b="1" dirty="0">
                <a:solidFill>
                  <a:schemeClr val="accent1"/>
                </a:solidFill>
                <a:latin typeface="Cambria" pitchFamily="34" charset="0"/>
                <a:ea typeface="Cambria" pitchFamily="34" charset="-122"/>
                <a:cs typeface="Cambria" pitchFamily="34" charset="-120"/>
              </a:rPr>
              <a:t>Key Findings</a:t>
            </a:r>
            <a:endParaRPr lang="en-US" sz="1600" dirty="0"/>
          </a:p>
        </p:txBody>
      </p:sp>
      <p:sp>
        <p:nvSpPr>
          <p:cNvPr id="8" name="Text 5"/>
          <p:cNvSpPr txBox="1"/>
          <p:nvPr/>
        </p:nvSpPr>
        <p:spPr>
          <a:xfrm>
            <a:off x="5394960" y="2240280"/>
            <a:ext cx="3108960" cy="22860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D16 rebar waste reached 11%, above the usual 5% limit.</a:t>
            </a:r>
            <a:endParaRPr lang="en-US" sz="1400" dirty="0"/>
          </a:p>
          <a:p>
            <a:pPr marL="342900" indent="-342900">
              <a:spcAft>
                <a:spcPts val="500"/>
              </a:spcAft>
              <a:buSzPct val="100000"/>
              <a:buChar char="•"/>
            </a:pPr>
            <a:r>
              <a:rPr lang="en-US" sz="1400" dirty="0">
                <a:solidFill>
                  <a:schemeClr val="tx1"/>
                </a:solidFill>
              </a:rPr>
              <a:t>Overuse of material beyond need was the top cause.</a:t>
            </a:r>
            <a:endParaRPr lang="en-US" sz="1400" dirty="0"/>
          </a:p>
          <a:p>
            <a:pPr marL="342900" indent="-342900">
              <a:spcAft>
                <a:spcPts val="500"/>
              </a:spcAft>
              <a:buSzPct val="100000"/>
              <a:buChar char="•"/>
            </a:pPr>
            <a:r>
              <a:rPr lang="en-US" sz="1400" dirty="0">
                <a:solidFill>
                  <a:schemeClr val="tx1"/>
                </a:solidFill>
              </a:rPr>
              <a:t>Contractors supplied extra material than planned.</a:t>
            </a:r>
            <a:endParaRPr lang="en-US" sz="1400" dirty="0"/>
          </a:p>
          <a:p>
            <a:pPr marL="342900" indent="-342900">
              <a:spcAft>
                <a:spcPts val="500"/>
              </a:spcAft>
              <a:buSzPct val="100000"/>
              <a:buChar char="•"/>
            </a:pPr>
            <a:r>
              <a:rPr lang="en-US" sz="1400" dirty="0">
                <a:solidFill>
                  <a:schemeClr val="tx1"/>
                </a:solidFill>
              </a:rPr>
              <a:t>Suggested staged delivery and BIM.</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8CA0"/>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rtlCol="0" anchor="ctr"/>
          <a:lstStyle/>
          <a:p>
            <a:pPr marL="0" indent="0">
              <a:buNone/>
            </a:pPr>
            <a:r>
              <a:rPr lang="en-US" sz="2800" b="1" dirty="0">
                <a:solidFill>
                  <a:schemeClr val="tx1"/>
                </a:solidFill>
              </a:rPr>
              <a:t>Case Study Synthesis</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2560320"/>
        </p:xfrm>
        <a:graphic>
          <a:graphicData uri="http://schemas.openxmlformats.org/drawingml/2006/table">
            <a:tbl>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65760">
                <a:tc>
                  <a:txBody>
                    <a:bodyPr/>
                    <a:lstStyle/>
                    <a:p>
                      <a:pPr marL="0" indent="0">
                        <a:buNone/>
                      </a:pPr>
                      <a:r>
                        <a:rPr lang="en-US" sz="1300" b="1" dirty="0">
                          <a:solidFill>
                            <a:srgbClr val="FFFFFF"/>
                          </a:solidFill>
                        </a:rPr>
                        <a:t>Study</a:t>
                      </a:r>
                      <a:endParaRPr lang="en-US" sz="13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33C"/>
                    </a:solidFill>
                  </a:tcPr>
                </a:tc>
                <a:tc>
                  <a:txBody>
                    <a:bodyPr/>
                    <a:lstStyle/>
                    <a:p>
                      <a:pPr marL="0" indent="0">
                        <a:buNone/>
                      </a:pPr>
                      <a:r>
                        <a:rPr lang="en-US" sz="1300" b="1" dirty="0">
                          <a:solidFill>
                            <a:srgbClr val="FFFFFF"/>
                          </a:solidFill>
                        </a:rPr>
                        <a:t>Setting</a:t>
                      </a:r>
                      <a:endParaRPr lang="en-US" sz="13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33C"/>
                    </a:solidFill>
                  </a:tcPr>
                </a:tc>
                <a:tc>
                  <a:txBody>
                    <a:bodyPr/>
                    <a:lstStyle/>
                    <a:p>
                      <a:pPr marL="0" indent="0">
                        <a:buNone/>
                      </a:pPr>
                      <a:r>
                        <a:rPr lang="en-US" sz="1300" b="1" dirty="0">
                          <a:solidFill>
                            <a:srgbClr val="FFFFFF"/>
                          </a:solidFill>
                        </a:rPr>
                        <a:t>Main finding</a:t>
                      </a:r>
                      <a:endParaRPr lang="en-US" sz="13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33C"/>
                    </a:solidFill>
                  </a:tcPr>
                </a:tc>
                <a:extLst>
                  <a:ext uri="{0D108BD9-81ED-4DB2-BD59-A6C34878D82A}">
                    <a16:rowId xmlns:a16="http://schemas.microsoft.com/office/drawing/2014/main" val="10000"/>
                  </a:ext>
                </a:extLst>
              </a:tr>
              <a:tr h="365760">
                <a:tc>
                  <a:txBody>
                    <a:bodyPr/>
                    <a:lstStyle/>
                    <a:p>
                      <a:pPr marL="0" indent="0">
                        <a:buNone/>
                      </a:pPr>
                      <a:r>
                        <a:rPr lang="en-US" sz="1200" dirty="0">
                          <a:solidFill>
                            <a:srgbClr val="14233C"/>
                          </a:solidFill>
                        </a:rPr>
                        <a:t>Oladiran (2018)</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tc>
                  <a:txBody>
                    <a:bodyPr/>
                    <a:lstStyle/>
                    <a:p>
                      <a:pPr marL="0" indent="0">
                        <a:buNone/>
                      </a:pPr>
                      <a:r>
                        <a:rPr lang="en-US" sz="1200" dirty="0">
                          <a:solidFill>
                            <a:srgbClr val="14233C"/>
                          </a:solidFill>
                        </a:rPr>
                        <a:t>97 projects, Lagos</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tc>
                  <a:txBody>
                    <a:bodyPr/>
                    <a:lstStyle/>
                    <a:p>
                      <a:pPr marL="0" indent="0">
                        <a:buNone/>
                      </a:pPr>
                      <a:r>
                        <a:rPr lang="en-US" sz="1200" dirty="0">
                          <a:solidFill>
                            <a:srgbClr val="14233C"/>
                          </a:solidFill>
                        </a:rPr>
                        <a:t>Allowances 8.36-10.06% vs 5% assumed</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extLst>
                  <a:ext uri="{0D108BD9-81ED-4DB2-BD59-A6C34878D82A}">
                    <a16:rowId xmlns:a16="http://schemas.microsoft.com/office/drawing/2014/main" val="10001"/>
                  </a:ext>
                </a:extLst>
              </a:tr>
              <a:tr h="365760">
                <a:tc>
                  <a:txBody>
                    <a:bodyPr/>
                    <a:lstStyle/>
                    <a:p>
                      <a:pPr marL="0" indent="0">
                        <a:buNone/>
                      </a:pPr>
                      <a:r>
                        <a:rPr lang="en-US" sz="1200" dirty="0">
                          <a:solidFill>
                            <a:srgbClr val="14233C"/>
                          </a:solidFill>
                        </a:rPr>
                        <a:t>Adewuyi et al. (2014)</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tc>
                  <a:txBody>
                    <a:bodyPr/>
                    <a:lstStyle/>
                    <a:p>
                      <a:pPr marL="0" indent="0">
                        <a:buNone/>
                      </a:pPr>
                      <a:r>
                        <a:rPr lang="en-US" sz="1200" dirty="0">
                          <a:solidFill>
                            <a:srgbClr val="14233C"/>
                          </a:solidFill>
                        </a:rPr>
                        <a:t>30 public projects</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tc>
                  <a:txBody>
                    <a:bodyPr/>
                    <a:lstStyle/>
                    <a:p>
                      <a:pPr marL="0" indent="0">
                        <a:buNone/>
                      </a:pPr>
                      <a:r>
                        <a:rPr lang="en-US" sz="1200" dirty="0">
                          <a:solidFill>
                            <a:srgbClr val="14233C"/>
                          </a:solidFill>
                        </a:rPr>
                        <a:t>Waste about 10-14.5%, above allowable</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extLst>
                  <a:ext uri="{0D108BD9-81ED-4DB2-BD59-A6C34878D82A}">
                    <a16:rowId xmlns:a16="http://schemas.microsoft.com/office/drawing/2014/main" val="10002"/>
                  </a:ext>
                </a:extLst>
              </a:tr>
              <a:tr h="365760">
                <a:tc>
                  <a:txBody>
                    <a:bodyPr/>
                    <a:lstStyle/>
                    <a:p>
                      <a:pPr marL="0" indent="0">
                        <a:buNone/>
                      </a:pPr>
                      <a:r>
                        <a:rPr lang="en-US" sz="1200" dirty="0">
                          <a:solidFill>
                            <a:srgbClr val="14233C"/>
                          </a:solidFill>
                        </a:rPr>
                        <a:t>Odusami et al. (2012)</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tc>
                  <a:txBody>
                    <a:bodyPr/>
                    <a:lstStyle/>
                    <a:p>
                      <a:pPr marL="0" indent="0">
                        <a:buNone/>
                      </a:pPr>
                      <a:r>
                        <a:rPr lang="en-US" sz="1200" dirty="0">
                          <a:solidFill>
                            <a:srgbClr val="14233C"/>
                          </a:solidFill>
                        </a:rPr>
                        <a:t>Building sites, Nigeria</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tc>
                  <a:txBody>
                    <a:bodyPr/>
                    <a:lstStyle/>
                    <a:p>
                      <a:pPr marL="0" indent="0">
                        <a:buNone/>
                      </a:pPr>
                      <a:r>
                        <a:rPr lang="en-US" sz="1200" dirty="0">
                          <a:solidFill>
                            <a:srgbClr val="14233C"/>
                          </a:solidFill>
                        </a:rPr>
                        <a:t>Allowances exceeded; supervision is key</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extLst>
                  <a:ext uri="{0D108BD9-81ED-4DB2-BD59-A6C34878D82A}">
                    <a16:rowId xmlns:a16="http://schemas.microsoft.com/office/drawing/2014/main" val="10003"/>
                  </a:ext>
                </a:extLst>
              </a:tr>
              <a:tr h="365760">
                <a:tc>
                  <a:txBody>
                    <a:bodyPr/>
                    <a:lstStyle/>
                    <a:p>
                      <a:pPr marL="0" indent="0">
                        <a:buNone/>
                      </a:pPr>
                      <a:r>
                        <a:rPr lang="en-US" sz="1200" dirty="0">
                          <a:solidFill>
                            <a:srgbClr val="14233C"/>
                          </a:solidFill>
                        </a:rPr>
                        <a:t>Asmi et al. (2024)</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tc>
                  <a:txBody>
                    <a:bodyPr/>
                    <a:lstStyle/>
                    <a:p>
                      <a:pPr marL="0" indent="0">
                        <a:buNone/>
                      </a:pPr>
                      <a:r>
                        <a:rPr lang="en-US" sz="1200" dirty="0">
                          <a:solidFill>
                            <a:srgbClr val="14233C"/>
                          </a:solidFill>
                        </a:rPr>
                        <a:t>Office shop building</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tc>
                  <a:txBody>
                    <a:bodyPr/>
                    <a:lstStyle/>
                    <a:p>
                      <a:pPr marL="0" indent="0">
                        <a:buNone/>
                      </a:pPr>
                      <a:r>
                        <a:rPr lang="en-US" sz="1200" dirty="0">
                          <a:solidFill>
                            <a:srgbClr val="14233C"/>
                          </a:solidFill>
                        </a:rPr>
                        <a:t>Measurement errors and design changes</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extLst>
                  <a:ext uri="{0D108BD9-81ED-4DB2-BD59-A6C34878D82A}">
                    <a16:rowId xmlns:a16="http://schemas.microsoft.com/office/drawing/2014/main" val="10004"/>
                  </a:ext>
                </a:extLst>
              </a:tr>
              <a:tr h="365760">
                <a:tc>
                  <a:txBody>
                    <a:bodyPr/>
                    <a:lstStyle/>
                    <a:p>
                      <a:pPr marL="0" indent="0">
                        <a:buNone/>
                      </a:pPr>
                      <a:r>
                        <a:rPr lang="en-US" sz="1200" dirty="0">
                          <a:solidFill>
                            <a:srgbClr val="14233C"/>
                          </a:solidFill>
                        </a:rPr>
                        <a:t>Sulistio &amp; Waty (2024)</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tc>
                  <a:txBody>
                    <a:bodyPr/>
                    <a:lstStyle/>
                    <a:p>
                      <a:pPr marL="0" indent="0">
                        <a:buNone/>
                      </a:pPr>
                      <a:r>
                        <a:rPr lang="en-US" sz="1200" dirty="0">
                          <a:solidFill>
                            <a:srgbClr val="14233C"/>
                          </a:solidFill>
                        </a:rPr>
                        <a:t>Road projects</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tc>
                  <a:txBody>
                    <a:bodyPr/>
                    <a:lstStyle/>
                    <a:p>
                      <a:pPr marL="0" indent="0">
                        <a:buNone/>
                      </a:pPr>
                      <a:r>
                        <a:rPr lang="en-US" sz="1200" dirty="0">
                          <a:solidFill>
                            <a:srgbClr val="14233C"/>
                          </a:solidFill>
                        </a:rPr>
                        <a:t>Change orders drive waste</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extLst>
                  <a:ext uri="{0D108BD9-81ED-4DB2-BD59-A6C34878D82A}">
                    <a16:rowId xmlns:a16="http://schemas.microsoft.com/office/drawing/2014/main" val="10005"/>
                  </a:ext>
                </a:extLst>
              </a:tr>
              <a:tr h="365760">
                <a:tc>
                  <a:txBody>
                    <a:bodyPr/>
                    <a:lstStyle/>
                    <a:p>
                      <a:pPr marL="0" indent="0">
                        <a:buNone/>
                      </a:pPr>
                      <a:r>
                        <a:rPr lang="en-US" sz="1200" dirty="0">
                          <a:solidFill>
                            <a:srgbClr val="14233C"/>
                          </a:solidFill>
                        </a:rPr>
                        <a:t>Sapitri et al. (2026)</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tc>
                  <a:txBody>
                    <a:bodyPr/>
                    <a:lstStyle/>
                    <a:p>
                      <a:pPr marL="0" indent="0">
                        <a:buNone/>
                      </a:pPr>
                      <a:r>
                        <a:rPr lang="en-US" sz="1200" dirty="0">
                          <a:solidFill>
                            <a:srgbClr val="14233C"/>
                          </a:solidFill>
                        </a:rPr>
                        <a:t>Residential building</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tc>
                  <a:txBody>
                    <a:bodyPr/>
                    <a:lstStyle/>
                    <a:p>
                      <a:pPr marL="0" indent="0">
                        <a:buNone/>
                      </a:pPr>
                      <a:r>
                        <a:rPr lang="en-US" sz="1200" dirty="0">
                          <a:solidFill>
                            <a:srgbClr val="14233C"/>
                          </a:solidFill>
                        </a:rPr>
                        <a:t>D16 rebar 11%; overuse is top cause</a:t>
                      </a:r>
                      <a:endParaRPr lang="en-US" sz="1200" dirty="0"/>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EF2F6"/>
                    </a:solidFill>
                  </a:tcPr>
                </a:tc>
                <a:extLst>
                  <a:ext uri="{0D108BD9-81ED-4DB2-BD59-A6C34878D82A}">
                    <a16:rowId xmlns:a16="http://schemas.microsoft.com/office/drawing/2014/main" val="10006"/>
                  </a:ext>
                </a:extLst>
              </a:tr>
            </a:tbl>
          </a:graphicData>
        </a:graphic>
      </p:graphicFrame>
      <p:sp>
        <p:nvSpPr>
          <p:cNvPr id="4" name="Shape 1"/>
          <p:cNvSpPr/>
          <p:nvPr/>
        </p:nvSpPr>
        <p:spPr>
          <a:xfrm>
            <a:off x="457200" y="3840480"/>
            <a:ext cx="8229600" cy="777240"/>
          </a:xfrm>
          <a:prstGeom prst="roundRect">
            <a:avLst>
              <a:gd name="adj" fmla="val 11765"/>
            </a:avLst>
          </a:prstGeom>
          <a:solidFill>
            <a:schemeClr val="tx1"/>
          </a:solidFill>
          <a:ln w="12700">
            <a:solidFill>
              <a:schemeClr val="tx1"/>
            </a:solidFill>
            <a:prstDash val="solid"/>
          </a:ln>
        </p:spPr>
        <p:txBody>
          <a:bodyPr/>
          <a:lstStyle/>
          <a:p>
            <a:endParaRPr/>
          </a:p>
        </p:txBody>
      </p:sp>
      <p:sp>
        <p:nvSpPr>
          <p:cNvPr id="5" name="Text 2"/>
          <p:cNvSpPr txBox="1"/>
          <p:nvPr/>
        </p:nvSpPr>
        <p:spPr>
          <a:xfrm>
            <a:off x="640080" y="3840480"/>
            <a:ext cx="7863840" cy="777240"/>
          </a:xfrm>
          <a:prstGeom prst="rect">
            <a:avLst/>
          </a:prstGeom>
          <a:noFill/>
          <a:ln/>
        </p:spPr>
        <p:txBody>
          <a:bodyPr wrap="square" lIns="0" tIns="0" rIns="0" bIns="0" rtlCol="0" anchor="ctr"/>
          <a:lstStyle/>
          <a:p>
            <a:pPr marL="0" indent="0">
              <a:buNone/>
            </a:pPr>
            <a:r>
              <a:rPr lang="en-US" sz="1400" dirty="0">
                <a:solidFill>
                  <a:schemeClr val="bg1"/>
                </a:solidFill>
              </a:rPr>
              <a:t>Common pattern: fixed allowances underestimate real waste, and measurement errors, design changes and over-ordering drive it. Few studies offer a simple tool for site engineers.</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8CA0"/>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rtlCol="0" anchor="ctr"/>
          <a:lstStyle/>
          <a:p>
            <a:pPr marL="0" indent="0">
              <a:buNone/>
            </a:pPr>
            <a:r>
              <a:rPr lang="en-US" sz="2800" b="1" dirty="0">
                <a:solidFill>
                  <a:schemeClr val="tx1"/>
                </a:solidFill>
              </a:rPr>
              <a:t>Field Conversation with a Mason</a:t>
            </a:r>
            <a:endParaRPr lang="en-US" sz="2800" dirty="0"/>
          </a:p>
        </p:txBody>
      </p:sp>
      <p:sp>
        <p:nvSpPr>
          <p:cNvPr id="3" name="Text 1"/>
          <p:cNvSpPr txBox="1"/>
          <p:nvPr/>
        </p:nvSpPr>
        <p:spPr>
          <a:xfrm>
            <a:off x="457200" y="960120"/>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Campus construction site near Kashyapa Bhavanam, Amrita Vishwa Vidyapeetham, Coimbatore</a:t>
            </a:r>
            <a:endParaRPr lang="en-US" sz="1200" dirty="0"/>
          </a:p>
        </p:txBody>
      </p:sp>
      <p:sp>
        <p:nvSpPr>
          <p:cNvPr id="4" name="Text 2"/>
          <p:cNvSpPr txBox="1"/>
          <p:nvPr/>
        </p:nvSpPr>
        <p:spPr>
          <a:xfrm>
            <a:off x="457200" y="1325880"/>
            <a:ext cx="4023360" cy="3383280"/>
          </a:xfrm>
          <a:prstGeom prst="rect">
            <a:avLst/>
          </a:prstGeom>
          <a:noFill/>
          <a:ln/>
        </p:spPr>
        <p:txBody>
          <a:bodyPr wrap="square" lIns="0" tIns="0" rIns="0" bIns="0" rtlCol="0" anchor="t"/>
          <a:lstStyle/>
          <a:p>
            <a:pPr marL="0" indent="0">
              <a:buNone/>
            </a:pPr>
            <a:r>
              <a:rPr lang="en-US" sz="1200" b="1" dirty="0">
                <a:solidFill>
                  <a:srgbClr val="2A7F8E"/>
                </a:solidFill>
              </a:rPr>
              <a:t>Me: </a:t>
            </a:r>
            <a:r>
              <a:rPr lang="en-US" sz="1200" b="1" dirty="0">
                <a:solidFill>
                  <a:srgbClr val="14233C"/>
                </a:solidFill>
              </a:rPr>
              <a:t>Anna, how do you get cement, sand and bricks for the work?</a:t>
            </a:r>
            <a:endParaRPr lang="en-US" sz="1200" dirty="0"/>
          </a:p>
          <a:p>
            <a:pPr marL="0" indent="0">
              <a:buNone/>
            </a:pPr>
            <a:r>
              <a:rPr lang="en-US" sz="1200" b="1" dirty="0">
                <a:solidFill>
                  <a:srgbClr val="C8961E"/>
                </a:solidFill>
              </a:rPr>
              <a:t>Mason: </a:t>
            </a:r>
            <a:r>
              <a:rPr lang="en-US" sz="1200" dirty="0">
                <a:solidFill>
                  <a:srgbClr val="14233C"/>
                </a:solidFill>
              </a:rPr>
              <a:t>The engineer tells us how much to bring. We bring it and keep it near the work.</a:t>
            </a:r>
            <a:endParaRPr lang="en-US" sz="1200" dirty="0"/>
          </a:p>
          <a:p>
            <a:pPr marL="0" indent="0">
              <a:buNone/>
            </a:pPr>
            <a:r>
              <a:rPr lang="en-US" sz="600" dirty="0">
                <a:solidFill>
                  <a:srgbClr val="000000"/>
                </a:solidFill>
              </a:rPr>
              <a:t> </a:t>
            </a:r>
            <a:endParaRPr lang="en-US" sz="1200" dirty="0"/>
          </a:p>
          <a:p>
            <a:pPr marL="0" indent="0">
              <a:buNone/>
            </a:pPr>
            <a:r>
              <a:rPr lang="en-US" sz="1200" b="1" dirty="0">
                <a:solidFill>
                  <a:srgbClr val="2A7F8E"/>
                </a:solidFill>
              </a:rPr>
              <a:t>Me: </a:t>
            </a:r>
            <a:r>
              <a:rPr lang="en-US" sz="1200" b="1" dirty="0">
                <a:solidFill>
                  <a:srgbClr val="14233C"/>
                </a:solidFill>
              </a:rPr>
              <a:t>Does that amount always come out right?</a:t>
            </a:r>
            <a:endParaRPr lang="en-US" sz="1200" dirty="0"/>
          </a:p>
          <a:p>
            <a:pPr marL="0" indent="0">
              <a:buNone/>
            </a:pPr>
            <a:r>
              <a:rPr lang="en-US" sz="1200" b="1" dirty="0">
                <a:solidFill>
                  <a:srgbClr val="C8961E"/>
                </a:solidFill>
              </a:rPr>
              <a:t>Mason: </a:t>
            </a:r>
            <a:r>
              <a:rPr lang="en-US" sz="1200" dirty="0">
                <a:solidFill>
                  <a:srgbClr val="14233C"/>
                </a:solidFill>
              </a:rPr>
              <a:t>No, sometimes it is less and sometimes more. The work may change, or we may need a little extra mortar. If it runs out, we have to wait for more.</a:t>
            </a:r>
            <a:endParaRPr lang="en-US" sz="1200" dirty="0"/>
          </a:p>
          <a:p>
            <a:pPr marL="0" indent="0">
              <a:buNone/>
            </a:pPr>
            <a:r>
              <a:rPr lang="en-US" sz="600" dirty="0">
                <a:solidFill>
                  <a:srgbClr val="000000"/>
                </a:solidFill>
              </a:rPr>
              <a:t> </a:t>
            </a:r>
            <a:endParaRPr lang="en-US" sz="1200" dirty="0"/>
          </a:p>
          <a:p>
            <a:pPr marL="0" indent="0">
              <a:buNone/>
            </a:pPr>
            <a:r>
              <a:rPr lang="en-US" sz="1200" b="1" dirty="0">
                <a:solidFill>
                  <a:srgbClr val="2A7F8E"/>
                </a:solidFill>
              </a:rPr>
              <a:t>Me: </a:t>
            </a:r>
            <a:r>
              <a:rPr lang="en-US" sz="1200" b="1" dirty="0">
                <a:solidFill>
                  <a:srgbClr val="14233C"/>
                </a:solidFill>
              </a:rPr>
              <a:t>What do you do with the materials left over?</a:t>
            </a:r>
            <a:endParaRPr lang="en-US" sz="1200" dirty="0"/>
          </a:p>
          <a:p>
            <a:pPr marL="0" indent="0">
              <a:buNone/>
            </a:pPr>
            <a:r>
              <a:rPr lang="en-US" sz="1200" b="1" dirty="0">
                <a:solidFill>
                  <a:srgbClr val="C8961E"/>
                </a:solidFill>
              </a:rPr>
              <a:t>Mason: </a:t>
            </a:r>
            <a:r>
              <a:rPr lang="en-US" sz="1200" dirty="0">
                <a:solidFill>
                  <a:srgbClr val="14233C"/>
                </a:solidFill>
              </a:rPr>
              <a:t>Good bricks, we keep and use again. If sand is clean, we use it. Broken bricks and dried mortar are put aside. Sometimes the leftover concrete is also thrown away after it hardens.</a:t>
            </a:r>
            <a:endParaRPr lang="en-US" sz="1200" dirty="0"/>
          </a:p>
          <a:p>
            <a:pPr marL="0" indent="0">
              <a:buNone/>
            </a:pPr>
            <a:r>
              <a:rPr lang="en-US" sz="600" dirty="0">
                <a:solidFill>
                  <a:srgbClr val="000000"/>
                </a:solidFill>
              </a:rPr>
              <a:t> </a:t>
            </a:r>
            <a:endParaRPr lang="en-US" sz="1200" dirty="0"/>
          </a:p>
          <a:p>
            <a:pPr marL="0" indent="0">
              <a:buNone/>
            </a:pPr>
            <a:r>
              <a:rPr lang="en-US" sz="1200" b="1" dirty="0">
                <a:solidFill>
                  <a:srgbClr val="2A7F8E"/>
                </a:solidFill>
              </a:rPr>
              <a:t>Me: </a:t>
            </a:r>
            <a:r>
              <a:rPr lang="en-US" sz="1200" b="1" dirty="0">
                <a:solidFill>
                  <a:srgbClr val="14233C"/>
                </a:solidFill>
              </a:rPr>
              <a:t>Do the materials get spoiled?</a:t>
            </a:r>
            <a:endParaRPr lang="en-US" sz="1200" dirty="0"/>
          </a:p>
          <a:p>
            <a:pPr marL="0" indent="0">
              <a:buNone/>
            </a:pPr>
            <a:r>
              <a:rPr lang="en-US" sz="1200" b="1" dirty="0">
                <a:solidFill>
                  <a:srgbClr val="C8961E"/>
                </a:solidFill>
              </a:rPr>
              <a:t>Mason: </a:t>
            </a:r>
            <a:r>
              <a:rPr lang="en-US" sz="1200" dirty="0">
                <a:solidFill>
                  <a:srgbClr val="14233C"/>
                </a:solidFill>
              </a:rPr>
              <a:t>Yes. If rainwater gets into the cement, it becomes hard and we cannot use it properly. Sand can also get mixed with mud if it is left on the ground.</a:t>
            </a:r>
            <a:endParaRPr lang="en-US" sz="1200" dirty="0"/>
          </a:p>
          <a:p>
            <a:pPr marL="0" indent="0">
              <a:buNone/>
            </a:pPr>
            <a:r>
              <a:rPr lang="en-US" sz="600" dirty="0">
                <a:solidFill>
                  <a:srgbClr val="000000"/>
                </a:solidFill>
              </a:rPr>
              <a:t> </a:t>
            </a:r>
            <a:endParaRPr lang="en-US" sz="1200" dirty="0"/>
          </a:p>
        </p:txBody>
      </p:sp>
      <p:sp>
        <p:nvSpPr>
          <p:cNvPr id="5" name="Text 3"/>
          <p:cNvSpPr txBox="1"/>
          <p:nvPr/>
        </p:nvSpPr>
        <p:spPr>
          <a:xfrm>
            <a:off x="4663440" y="1325880"/>
            <a:ext cx="4023360" cy="3383280"/>
          </a:xfrm>
          <a:prstGeom prst="rect">
            <a:avLst/>
          </a:prstGeom>
          <a:noFill/>
          <a:ln/>
        </p:spPr>
        <p:txBody>
          <a:bodyPr wrap="square" lIns="0" tIns="0" rIns="0" bIns="0" rtlCol="0" anchor="t"/>
          <a:lstStyle/>
          <a:p>
            <a:pPr marL="0" indent="0">
              <a:buNone/>
            </a:pPr>
            <a:r>
              <a:rPr lang="en-US" sz="1200" b="1" dirty="0">
                <a:solidFill>
                  <a:srgbClr val="2A7F8E"/>
                </a:solidFill>
              </a:rPr>
              <a:t>Me: </a:t>
            </a:r>
            <a:r>
              <a:rPr lang="en-US" sz="1200" b="1" dirty="0">
                <a:solidFill>
                  <a:srgbClr val="14233C"/>
                </a:solidFill>
              </a:rPr>
              <a:t>Do you write down how much material is wasted each day?</a:t>
            </a:r>
            <a:endParaRPr lang="en-US" sz="1200" dirty="0"/>
          </a:p>
          <a:p>
            <a:pPr marL="0" indent="0">
              <a:buNone/>
            </a:pPr>
            <a:r>
              <a:rPr lang="en-US" sz="1200" b="1" dirty="0">
                <a:solidFill>
                  <a:srgbClr val="C8961E"/>
                </a:solidFill>
              </a:rPr>
              <a:t>Mason: </a:t>
            </a:r>
            <a:r>
              <a:rPr lang="en-US" sz="1200" dirty="0">
                <a:solidFill>
                  <a:srgbClr val="14233C"/>
                </a:solidFill>
              </a:rPr>
              <a:t>No, not every little bit. We see what has come and what we have used. Small waste is usually just put aside or thrown away. The engineer may keep the main account.</a:t>
            </a:r>
            <a:endParaRPr lang="en-US" sz="1200" dirty="0"/>
          </a:p>
          <a:p>
            <a:pPr marL="0" indent="0">
              <a:buNone/>
            </a:pPr>
            <a:r>
              <a:rPr lang="en-US" sz="600" dirty="0">
                <a:solidFill>
                  <a:srgbClr val="000000"/>
                </a:solidFill>
              </a:rPr>
              <a:t> </a:t>
            </a:r>
            <a:endParaRPr lang="en-US" sz="1200" dirty="0"/>
          </a:p>
          <a:p>
            <a:pPr marL="0" indent="0">
              <a:buNone/>
            </a:pPr>
            <a:r>
              <a:rPr lang="en-US" sz="1200" b="1" dirty="0">
                <a:solidFill>
                  <a:srgbClr val="2A7F8E"/>
                </a:solidFill>
              </a:rPr>
              <a:t>Me: </a:t>
            </a:r>
            <a:r>
              <a:rPr lang="en-US" sz="1200" b="1" dirty="0">
                <a:solidFill>
                  <a:srgbClr val="14233C"/>
                </a:solidFill>
              </a:rPr>
              <a:t>What happens if there is too much or too little material?</a:t>
            </a:r>
            <a:endParaRPr lang="en-US" sz="1200" dirty="0"/>
          </a:p>
          <a:p>
            <a:pPr marL="0" indent="0">
              <a:buNone/>
            </a:pPr>
            <a:r>
              <a:rPr lang="en-US" sz="1200" b="1" dirty="0">
                <a:solidFill>
                  <a:srgbClr val="C8961E"/>
                </a:solidFill>
              </a:rPr>
              <a:t>Mason: </a:t>
            </a:r>
            <a:r>
              <a:rPr lang="en-US" sz="1200" dirty="0">
                <a:solidFill>
                  <a:srgbClr val="14233C"/>
                </a:solidFill>
              </a:rPr>
              <a:t>If it is too little, we stop the work and wait. If there is too much, it takes up space. Cement can get spoiled if it is kept for too long or gets wet.</a:t>
            </a:r>
            <a:endParaRPr lang="en-US" sz="1200" dirty="0"/>
          </a:p>
          <a:p>
            <a:pPr marL="0" indent="0">
              <a:buNone/>
            </a:pPr>
            <a:r>
              <a:rPr lang="en-US" sz="600" dirty="0">
                <a:solidFill>
                  <a:srgbClr val="000000"/>
                </a:solidFill>
              </a:rPr>
              <a:t> </a:t>
            </a:r>
            <a:endParaRPr lang="en-US" sz="1200" dirty="0"/>
          </a:p>
          <a:p>
            <a:pPr marL="0" indent="0">
              <a:buNone/>
            </a:pPr>
            <a:r>
              <a:rPr lang="en-US" sz="1200" b="1" dirty="0">
                <a:solidFill>
                  <a:srgbClr val="2A7F8E"/>
                </a:solidFill>
              </a:rPr>
              <a:t>Me: </a:t>
            </a:r>
            <a:r>
              <a:rPr lang="en-US" sz="1200" b="1" dirty="0">
                <a:solidFill>
                  <a:srgbClr val="14233C"/>
                </a:solidFill>
              </a:rPr>
              <a:t>Would a mobile app for estimating materials and tracking leftovers be useful?</a:t>
            </a:r>
            <a:endParaRPr lang="en-US" sz="1200" dirty="0"/>
          </a:p>
          <a:p>
            <a:pPr marL="0" indent="0">
              <a:buNone/>
            </a:pPr>
            <a:r>
              <a:rPr lang="en-US" sz="1200" b="1" dirty="0">
                <a:solidFill>
                  <a:srgbClr val="C8961E"/>
                </a:solidFill>
              </a:rPr>
              <a:t>Mason: </a:t>
            </a:r>
            <a:r>
              <a:rPr lang="en-IN" sz="1200" dirty="0">
                <a:solidFill>
                  <a:srgbClr val="14233C"/>
                </a:solidFill>
              </a:rPr>
              <a:t>It would be useful if it is simple to use . Let’s the Engineer or supervisor update usage easily .</a:t>
            </a:r>
            <a:endParaRPr lang="en-US" sz="12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8CA0"/>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rtlCol="0" anchor="ctr"/>
          <a:lstStyle/>
          <a:p>
            <a:pPr marL="0" indent="0">
              <a:buNone/>
            </a:pPr>
            <a:r>
              <a:rPr lang="en-US" sz="2800" b="1" dirty="0">
                <a:solidFill>
                  <a:schemeClr val="tx1"/>
                </a:solidFill>
              </a:rPr>
              <a:t>Field Findings and Design Response</a:t>
            </a:r>
            <a:endParaRPr lang="en-US" sz="2800" dirty="0"/>
          </a:p>
        </p:txBody>
      </p:sp>
      <p:sp>
        <p:nvSpPr>
          <p:cNvPr id="3" name="Shape 1"/>
          <p:cNvSpPr/>
          <p:nvPr/>
        </p:nvSpPr>
        <p:spPr>
          <a:xfrm>
            <a:off x="457200" y="1097280"/>
            <a:ext cx="3931920" cy="777240"/>
          </a:xfrm>
          <a:prstGeom prst="roundRect">
            <a:avLst>
              <a:gd name="adj" fmla="val 11765"/>
            </a:avLst>
          </a:prstGeom>
          <a:solidFill>
            <a:schemeClr val="bg2"/>
          </a:solidFill>
          <a:ln w="12700">
            <a:solidFill>
              <a:schemeClr val="bg2"/>
            </a:solidFill>
            <a:prstDash val="solid"/>
          </a:ln>
        </p:spPr>
        <p:txBody>
          <a:bodyPr/>
          <a:lstStyle/>
          <a:p>
            <a:endParaRPr/>
          </a:p>
        </p:txBody>
      </p:sp>
      <p:sp>
        <p:nvSpPr>
          <p:cNvPr id="4" name="Text 2"/>
          <p:cNvSpPr txBox="1"/>
          <p:nvPr/>
        </p:nvSpPr>
        <p:spPr>
          <a:xfrm>
            <a:off x="594360" y="1097280"/>
            <a:ext cx="3657600" cy="777240"/>
          </a:xfrm>
          <a:prstGeom prst="rect">
            <a:avLst/>
          </a:prstGeom>
          <a:noFill/>
          <a:ln/>
        </p:spPr>
        <p:txBody>
          <a:bodyPr wrap="square" lIns="0" tIns="0" rIns="0" bIns="0" rtlCol="0" anchor="ctr"/>
          <a:lstStyle/>
          <a:p>
            <a:pPr marL="0" indent="0">
              <a:buNone/>
            </a:pPr>
            <a:r>
              <a:rPr lang="en-US" sz="1500" b="1" dirty="0">
                <a:solidFill>
                  <a:schemeClr val="accent2"/>
                </a:solidFill>
              </a:rPr>
              <a:t>Estimates drift as work changes</a:t>
            </a:r>
            <a:endParaRPr lang="en-US" sz="1500" dirty="0"/>
          </a:p>
        </p:txBody>
      </p:sp>
      <p:sp>
        <p:nvSpPr>
          <p:cNvPr id="5" name="Shape 3"/>
          <p:cNvSpPr/>
          <p:nvPr/>
        </p:nvSpPr>
        <p:spPr>
          <a:xfrm>
            <a:off x="4480560" y="1344168"/>
            <a:ext cx="320040" cy="274320"/>
          </a:xfrm>
          <a:prstGeom prst="rightArrow">
            <a:avLst/>
          </a:prstGeom>
          <a:solidFill>
            <a:schemeClr val="accent1"/>
          </a:solidFill>
          <a:ln w="12700">
            <a:solidFill>
              <a:schemeClr val="accent1"/>
            </a:solidFill>
            <a:prstDash val="solid"/>
          </a:ln>
        </p:spPr>
        <p:txBody>
          <a:bodyPr/>
          <a:lstStyle/>
          <a:p>
            <a:endParaRPr/>
          </a:p>
        </p:txBody>
      </p:sp>
      <p:sp>
        <p:nvSpPr>
          <p:cNvPr id="6" name="Shape 4"/>
          <p:cNvSpPr/>
          <p:nvPr/>
        </p:nvSpPr>
        <p:spPr>
          <a:xfrm>
            <a:off x="4892040" y="1097280"/>
            <a:ext cx="3794760" cy="777240"/>
          </a:xfrm>
          <a:prstGeom prst="roundRect">
            <a:avLst>
              <a:gd name="adj" fmla="val 11765"/>
            </a:avLst>
          </a:prstGeom>
          <a:solidFill>
            <a:schemeClr val="tx1"/>
          </a:solidFill>
          <a:ln w="12700">
            <a:solidFill>
              <a:schemeClr val="tx1"/>
            </a:solidFill>
            <a:prstDash val="solid"/>
          </a:ln>
        </p:spPr>
        <p:txBody>
          <a:bodyPr/>
          <a:lstStyle/>
          <a:p>
            <a:endParaRPr/>
          </a:p>
        </p:txBody>
      </p:sp>
      <p:sp>
        <p:nvSpPr>
          <p:cNvPr id="7" name="Text 5"/>
          <p:cNvSpPr txBox="1"/>
          <p:nvPr/>
        </p:nvSpPr>
        <p:spPr>
          <a:xfrm>
            <a:off x="5029200" y="1097280"/>
            <a:ext cx="3520440" cy="777240"/>
          </a:xfrm>
          <a:prstGeom prst="rect">
            <a:avLst/>
          </a:prstGeom>
          <a:noFill/>
          <a:ln/>
        </p:spPr>
        <p:txBody>
          <a:bodyPr wrap="square" lIns="0" tIns="0" rIns="0" bIns="0" rtlCol="0" anchor="ctr"/>
          <a:lstStyle/>
          <a:p>
            <a:pPr marL="0" indent="0">
              <a:buNone/>
            </a:pPr>
            <a:r>
              <a:rPr lang="en-US" sz="1400" dirty="0">
                <a:solidFill>
                  <a:schemeClr val="bg1"/>
                </a:solidFill>
              </a:rPr>
              <a:t>Quantities are recalculated when dimensions or design change.</a:t>
            </a:r>
            <a:endParaRPr lang="en-US" sz="1400" dirty="0"/>
          </a:p>
        </p:txBody>
      </p:sp>
      <p:sp>
        <p:nvSpPr>
          <p:cNvPr id="8" name="Shape 6"/>
          <p:cNvSpPr/>
          <p:nvPr/>
        </p:nvSpPr>
        <p:spPr>
          <a:xfrm>
            <a:off x="457200" y="1993392"/>
            <a:ext cx="3931920" cy="777240"/>
          </a:xfrm>
          <a:prstGeom prst="roundRect">
            <a:avLst>
              <a:gd name="adj" fmla="val 11765"/>
            </a:avLst>
          </a:prstGeom>
          <a:solidFill>
            <a:schemeClr val="bg2"/>
          </a:solidFill>
          <a:ln w="12700">
            <a:solidFill>
              <a:schemeClr val="bg2"/>
            </a:solidFill>
            <a:prstDash val="solid"/>
          </a:ln>
        </p:spPr>
        <p:txBody>
          <a:bodyPr/>
          <a:lstStyle/>
          <a:p>
            <a:endParaRPr/>
          </a:p>
        </p:txBody>
      </p:sp>
      <p:sp>
        <p:nvSpPr>
          <p:cNvPr id="9" name="Text 7"/>
          <p:cNvSpPr txBox="1"/>
          <p:nvPr/>
        </p:nvSpPr>
        <p:spPr>
          <a:xfrm>
            <a:off x="594360" y="1993392"/>
            <a:ext cx="3657600" cy="777240"/>
          </a:xfrm>
          <a:prstGeom prst="rect">
            <a:avLst/>
          </a:prstGeom>
          <a:noFill/>
          <a:ln/>
        </p:spPr>
        <p:txBody>
          <a:bodyPr wrap="square" lIns="0" tIns="0" rIns="0" bIns="0" rtlCol="0" anchor="ctr"/>
          <a:lstStyle/>
          <a:p>
            <a:pPr marL="0" indent="0">
              <a:buNone/>
            </a:pPr>
            <a:r>
              <a:rPr lang="en-US" sz="1500" b="1" dirty="0">
                <a:solidFill>
                  <a:schemeClr val="accent2"/>
                </a:solidFill>
              </a:rPr>
              <a:t>Small waste is not recorded</a:t>
            </a:r>
            <a:endParaRPr lang="en-US" sz="1500" dirty="0"/>
          </a:p>
        </p:txBody>
      </p:sp>
      <p:sp>
        <p:nvSpPr>
          <p:cNvPr id="10" name="Shape 8"/>
          <p:cNvSpPr/>
          <p:nvPr/>
        </p:nvSpPr>
        <p:spPr>
          <a:xfrm>
            <a:off x="4480560" y="2240280"/>
            <a:ext cx="320040" cy="274320"/>
          </a:xfrm>
          <a:prstGeom prst="rightArrow">
            <a:avLst/>
          </a:prstGeom>
          <a:solidFill>
            <a:schemeClr val="accent1"/>
          </a:solidFill>
          <a:ln w="12700">
            <a:solidFill>
              <a:schemeClr val="accent1"/>
            </a:solidFill>
            <a:prstDash val="solid"/>
          </a:ln>
        </p:spPr>
        <p:txBody>
          <a:bodyPr/>
          <a:lstStyle/>
          <a:p>
            <a:endParaRPr/>
          </a:p>
        </p:txBody>
      </p:sp>
      <p:sp>
        <p:nvSpPr>
          <p:cNvPr id="11" name="Shape 9"/>
          <p:cNvSpPr/>
          <p:nvPr/>
        </p:nvSpPr>
        <p:spPr>
          <a:xfrm>
            <a:off x="4892040" y="1993392"/>
            <a:ext cx="3794760" cy="777240"/>
          </a:xfrm>
          <a:prstGeom prst="roundRect">
            <a:avLst>
              <a:gd name="adj" fmla="val 11765"/>
            </a:avLst>
          </a:prstGeom>
          <a:solidFill>
            <a:schemeClr val="tx1"/>
          </a:solidFill>
          <a:ln w="12700">
            <a:solidFill>
              <a:schemeClr val="tx1"/>
            </a:solidFill>
            <a:prstDash val="solid"/>
          </a:ln>
        </p:spPr>
        <p:txBody>
          <a:bodyPr/>
          <a:lstStyle/>
          <a:p>
            <a:endParaRPr/>
          </a:p>
        </p:txBody>
      </p:sp>
      <p:sp>
        <p:nvSpPr>
          <p:cNvPr id="12" name="Text 10"/>
          <p:cNvSpPr txBox="1"/>
          <p:nvPr/>
        </p:nvSpPr>
        <p:spPr>
          <a:xfrm>
            <a:off x="5029200" y="1993392"/>
            <a:ext cx="3520440" cy="777240"/>
          </a:xfrm>
          <a:prstGeom prst="rect">
            <a:avLst/>
          </a:prstGeom>
          <a:noFill/>
          <a:ln/>
        </p:spPr>
        <p:txBody>
          <a:bodyPr wrap="square" lIns="0" tIns="0" rIns="0" bIns="0" rtlCol="0" anchor="ctr"/>
          <a:lstStyle/>
          <a:p>
            <a:pPr marL="0" indent="0">
              <a:buNone/>
            </a:pPr>
            <a:r>
              <a:rPr lang="en-US" sz="1400" dirty="0">
                <a:solidFill>
                  <a:schemeClr val="bg1"/>
                </a:solidFill>
              </a:rPr>
              <a:t>One-tap logging of used, leftover and wasted quantities.</a:t>
            </a:r>
            <a:endParaRPr lang="en-US" sz="1400" dirty="0"/>
          </a:p>
        </p:txBody>
      </p:sp>
      <p:sp>
        <p:nvSpPr>
          <p:cNvPr id="13" name="Shape 11"/>
          <p:cNvSpPr/>
          <p:nvPr/>
        </p:nvSpPr>
        <p:spPr>
          <a:xfrm>
            <a:off x="457200" y="2889504"/>
            <a:ext cx="3931920" cy="777240"/>
          </a:xfrm>
          <a:prstGeom prst="roundRect">
            <a:avLst>
              <a:gd name="adj" fmla="val 11765"/>
            </a:avLst>
          </a:prstGeom>
          <a:solidFill>
            <a:schemeClr val="bg2"/>
          </a:solidFill>
          <a:ln w="12700">
            <a:solidFill>
              <a:schemeClr val="bg2"/>
            </a:solidFill>
            <a:prstDash val="solid"/>
          </a:ln>
        </p:spPr>
        <p:txBody>
          <a:bodyPr/>
          <a:lstStyle/>
          <a:p>
            <a:endParaRPr/>
          </a:p>
        </p:txBody>
      </p:sp>
      <p:sp>
        <p:nvSpPr>
          <p:cNvPr id="14" name="Text 12"/>
          <p:cNvSpPr txBox="1"/>
          <p:nvPr/>
        </p:nvSpPr>
        <p:spPr>
          <a:xfrm>
            <a:off x="594360" y="2889504"/>
            <a:ext cx="3657600" cy="777240"/>
          </a:xfrm>
          <a:prstGeom prst="rect">
            <a:avLst/>
          </a:prstGeom>
          <a:noFill/>
          <a:ln/>
        </p:spPr>
        <p:txBody>
          <a:bodyPr wrap="square" lIns="0" tIns="0" rIns="0" bIns="0" rtlCol="0" anchor="ctr"/>
          <a:lstStyle/>
          <a:p>
            <a:pPr marL="0" indent="0">
              <a:buNone/>
            </a:pPr>
            <a:r>
              <a:rPr lang="en-US" sz="1500" b="1" dirty="0">
                <a:solidFill>
                  <a:schemeClr val="accent2"/>
                </a:solidFill>
              </a:rPr>
              <a:t>Rain and mud spoil material</a:t>
            </a:r>
            <a:endParaRPr lang="en-US" sz="1500" dirty="0"/>
          </a:p>
        </p:txBody>
      </p:sp>
      <p:sp>
        <p:nvSpPr>
          <p:cNvPr id="15" name="Shape 13"/>
          <p:cNvSpPr/>
          <p:nvPr/>
        </p:nvSpPr>
        <p:spPr>
          <a:xfrm>
            <a:off x="4480560" y="3136392"/>
            <a:ext cx="320040" cy="274320"/>
          </a:xfrm>
          <a:prstGeom prst="rightArrow">
            <a:avLst/>
          </a:prstGeom>
          <a:solidFill>
            <a:schemeClr val="accent1"/>
          </a:solidFill>
          <a:ln w="12700">
            <a:solidFill>
              <a:schemeClr val="accent1"/>
            </a:solidFill>
            <a:prstDash val="solid"/>
          </a:ln>
        </p:spPr>
        <p:txBody>
          <a:bodyPr/>
          <a:lstStyle/>
          <a:p>
            <a:endParaRPr/>
          </a:p>
        </p:txBody>
      </p:sp>
      <p:sp>
        <p:nvSpPr>
          <p:cNvPr id="16" name="Shape 14"/>
          <p:cNvSpPr/>
          <p:nvPr/>
        </p:nvSpPr>
        <p:spPr>
          <a:xfrm>
            <a:off x="4892040" y="2889504"/>
            <a:ext cx="3794760" cy="777240"/>
          </a:xfrm>
          <a:prstGeom prst="roundRect">
            <a:avLst>
              <a:gd name="adj" fmla="val 11765"/>
            </a:avLst>
          </a:prstGeom>
          <a:solidFill>
            <a:schemeClr val="tx1"/>
          </a:solidFill>
          <a:ln w="12700">
            <a:solidFill>
              <a:schemeClr val="tx1"/>
            </a:solidFill>
            <a:prstDash val="solid"/>
          </a:ln>
        </p:spPr>
        <p:txBody>
          <a:bodyPr/>
          <a:lstStyle/>
          <a:p>
            <a:endParaRPr/>
          </a:p>
        </p:txBody>
      </p:sp>
      <p:sp>
        <p:nvSpPr>
          <p:cNvPr id="17" name="Text 15"/>
          <p:cNvSpPr txBox="1"/>
          <p:nvPr/>
        </p:nvSpPr>
        <p:spPr>
          <a:xfrm>
            <a:off x="5029200" y="2889504"/>
            <a:ext cx="3520440" cy="777240"/>
          </a:xfrm>
          <a:prstGeom prst="rect">
            <a:avLst/>
          </a:prstGeom>
          <a:noFill/>
          <a:ln/>
        </p:spPr>
        <p:txBody>
          <a:bodyPr wrap="square" lIns="0" tIns="0" rIns="0" bIns="0" rtlCol="0" anchor="ctr"/>
          <a:lstStyle/>
          <a:p>
            <a:pPr marL="0" indent="0">
              <a:buNone/>
            </a:pPr>
            <a:r>
              <a:rPr lang="en-US" sz="1400" dirty="0">
                <a:solidFill>
                  <a:schemeClr val="bg1"/>
                </a:solidFill>
              </a:rPr>
              <a:t>Storage and staged-delivery reminders in the order plan.</a:t>
            </a:r>
            <a:endParaRPr lang="en-US" sz="1400" dirty="0"/>
          </a:p>
        </p:txBody>
      </p:sp>
      <p:sp>
        <p:nvSpPr>
          <p:cNvPr id="18" name="Shape 16"/>
          <p:cNvSpPr/>
          <p:nvPr/>
        </p:nvSpPr>
        <p:spPr>
          <a:xfrm>
            <a:off x="457200" y="3785616"/>
            <a:ext cx="3931920" cy="777240"/>
          </a:xfrm>
          <a:prstGeom prst="roundRect">
            <a:avLst>
              <a:gd name="adj" fmla="val 11765"/>
            </a:avLst>
          </a:prstGeom>
          <a:solidFill>
            <a:schemeClr val="bg2"/>
          </a:solidFill>
          <a:ln w="12700">
            <a:solidFill>
              <a:schemeClr val="bg2"/>
            </a:solidFill>
            <a:prstDash val="solid"/>
          </a:ln>
        </p:spPr>
        <p:txBody>
          <a:bodyPr/>
          <a:lstStyle/>
          <a:p>
            <a:endParaRPr/>
          </a:p>
        </p:txBody>
      </p:sp>
      <p:sp>
        <p:nvSpPr>
          <p:cNvPr id="19" name="Text 17"/>
          <p:cNvSpPr txBox="1"/>
          <p:nvPr/>
        </p:nvSpPr>
        <p:spPr>
          <a:xfrm>
            <a:off x="594360" y="3785616"/>
            <a:ext cx="3657600" cy="777240"/>
          </a:xfrm>
          <a:prstGeom prst="rect">
            <a:avLst/>
          </a:prstGeom>
          <a:noFill/>
          <a:ln/>
        </p:spPr>
        <p:txBody>
          <a:bodyPr wrap="square" lIns="0" tIns="0" rIns="0" bIns="0" rtlCol="0" anchor="ctr"/>
          <a:lstStyle/>
          <a:p>
            <a:pPr marL="0" indent="0">
              <a:buNone/>
            </a:pPr>
            <a:r>
              <a:rPr lang="en-US" sz="1500" b="1" dirty="0">
                <a:solidFill>
                  <a:schemeClr val="accent2"/>
                </a:solidFill>
              </a:rPr>
              <a:t>Workers need simplicity</a:t>
            </a:r>
            <a:endParaRPr lang="en-US" sz="1500" dirty="0"/>
          </a:p>
        </p:txBody>
      </p:sp>
      <p:sp>
        <p:nvSpPr>
          <p:cNvPr id="20" name="Shape 18"/>
          <p:cNvSpPr/>
          <p:nvPr/>
        </p:nvSpPr>
        <p:spPr>
          <a:xfrm>
            <a:off x="4480560" y="4032504"/>
            <a:ext cx="320040" cy="274320"/>
          </a:xfrm>
          <a:prstGeom prst="rightArrow">
            <a:avLst/>
          </a:prstGeom>
          <a:solidFill>
            <a:schemeClr val="accent1"/>
          </a:solidFill>
          <a:ln w="12700">
            <a:solidFill>
              <a:schemeClr val="accent1"/>
            </a:solidFill>
            <a:prstDash val="solid"/>
          </a:ln>
        </p:spPr>
        <p:txBody>
          <a:bodyPr/>
          <a:lstStyle/>
          <a:p>
            <a:endParaRPr/>
          </a:p>
        </p:txBody>
      </p:sp>
      <p:sp>
        <p:nvSpPr>
          <p:cNvPr id="21" name="Shape 19"/>
          <p:cNvSpPr/>
          <p:nvPr/>
        </p:nvSpPr>
        <p:spPr>
          <a:xfrm>
            <a:off x="4892040" y="3785616"/>
            <a:ext cx="3794760" cy="777240"/>
          </a:xfrm>
          <a:prstGeom prst="roundRect">
            <a:avLst>
              <a:gd name="adj" fmla="val 11765"/>
            </a:avLst>
          </a:prstGeom>
          <a:solidFill>
            <a:schemeClr val="tx1"/>
          </a:solidFill>
          <a:ln w="12700">
            <a:solidFill>
              <a:schemeClr val="tx1"/>
            </a:solidFill>
            <a:prstDash val="solid"/>
          </a:ln>
        </p:spPr>
        <p:txBody>
          <a:bodyPr/>
          <a:lstStyle/>
          <a:p>
            <a:endParaRPr/>
          </a:p>
        </p:txBody>
      </p:sp>
      <p:sp>
        <p:nvSpPr>
          <p:cNvPr id="22" name="Text 20"/>
          <p:cNvSpPr txBox="1"/>
          <p:nvPr/>
        </p:nvSpPr>
        <p:spPr>
          <a:xfrm>
            <a:off x="5029200" y="3785616"/>
            <a:ext cx="3520440" cy="777240"/>
          </a:xfrm>
          <a:prstGeom prst="rect">
            <a:avLst/>
          </a:prstGeom>
          <a:noFill/>
          <a:ln/>
        </p:spPr>
        <p:txBody>
          <a:bodyPr wrap="square" lIns="0" tIns="0" rIns="0" bIns="0" rtlCol="0" anchor="ctr"/>
          <a:lstStyle/>
          <a:p>
            <a:pPr marL="0" indent="0">
              <a:buNone/>
            </a:pPr>
            <a:r>
              <a:rPr lang="en-US" sz="1400" dirty="0">
                <a:solidFill>
                  <a:schemeClr val="bg1"/>
                </a:solidFill>
              </a:rPr>
              <a:t>Minimal screens; engineer or supervisor updates data.</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8CA0"/>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rtlCol="0" anchor="ctr"/>
          <a:lstStyle/>
          <a:p>
            <a:pPr marL="0" indent="0">
              <a:buNone/>
            </a:pPr>
            <a:r>
              <a:rPr lang="en-US" sz="2800" b="1" dirty="0">
                <a:solidFill>
                  <a:schemeClr val="tx1"/>
                </a:solidFill>
              </a:rPr>
              <a:t>Mechanism: How Sustainable AI Works</a:t>
            </a:r>
            <a:endParaRPr lang="en-US" sz="2800" dirty="0"/>
          </a:p>
        </p:txBody>
      </p:sp>
      <p:sp>
        <p:nvSpPr>
          <p:cNvPr id="3" name="Shape 1"/>
          <p:cNvSpPr/>
          <p:nvPr/>
        </p:nvSpPr>
        <p:spPr>
          <a:xfrm>
            <a:off x="457200" y="1143000"/>
            <a:ext cx="502920" cy="502920"/>
          </a:xfrm>
          <a:prstGeom prst="ellipse">
            <a:avLst/>
          </a:prstGeom>
          <a:solidFill>
            <a:schemeClr val="accent1"/>
          </a:solidFill>
          <a:ln w="12700">
            <a:solidFill>
              <a:schemeClr val="bg1"/>
            </a:solidFill>
            <a:prstDash val="solid"/>
          </a:ln>
        </p:spPr>
        <p:txBody>
          <a:bodyPr/>
          <a:lstStyle/>
          <a:p>
            <a:endParaRPr/>
          </a:p>
        </p:txBody>
      </p:sp>
      <p:sp>
        <p:nvSpPr>
          <p:cNvPr id="4" name="Text 2"/>
          <p:cNvSpPr txBox="1"/>
          <p:nvPr/>
        </p:nvSpPr>
        <p:spPr>
          <a:xfrm>
            <a:off x="457200" y="11430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Text 3"/>
          <p:cNvSpPr txBox="1"/>
          <p:nvPr/>
        </p:nvSpPr>
        <p:spPr>
          <a:xfrm>
            <a:off x="1143000" y="1097280"/>
            <a:ext cx="2377440" cy="594360"/>
          </a:xfrm>
          <a:prstGeom prst="rect">
            <a:avLst/>
          </a:prstGeom>
          <a:noFill/>
          <a:ln/>
        </p:spPr>
        <p:txBody>
          <a:bodyPr wrap="square" lIns="0" tIns="0" rIns="0" bIns="0" rtlCol="0" anchor="ctr"/>
          <a:lstStyle/>
          <a:p>
            <a:pPr marL="0" indent="0">
              <a:buNone/>
            </a:pPr>
            <a:r>
              <a:rPr lang="en-US" sz="1600" b="1" dirty="0">
                <a:solidFill>
                  <a:schemeClr val="tx1"/>
                </a:solidFill>
              </a:rPr>
              <a:t>Input</a:t>
            </a:r>
            <a:endParaRPr lang="en-US" sz="1600" dirty="0"/>
          </a:p>
        </p:txBody>
      </p:sp>
      <p:sp>
        <p:nvSpPr>
          <p:cNvPr id="6" name="Text 4"/>
          <p:cNvSpPr txBox="1"/>
          <p:nvPr/>
        </p:nvSpPr>
        <p:spPr>
          <a:xfrm>
            <a:off x="3566160" y="1097280"/>
            <a:ext cx="5120640" cy="594360"/>
          </a:xfrm>
          <a:prstGeom prst="rect">
            <a:avLst/>
          </a:prstGeom>
          <a:noFill/>
          <a:ln/>
        </p:spPr>
        <p:txBody>
          <a:bodyPr wrap="square" lIns="0" tIns="0" rIns="0" bIns="0" rtlCol="0" anchor="ctr"/>
          <a:lstStyle/>
          <a:p>
            <a:pPr marL="0" indent="0">
              <a:buNone/>
            </a:pPr>
            <a:r>
              <a:rPr lang="en-US" sz="1400" dirty="0">
                <a:solidFill>
                  <a:schemeClr val="tx2"/>
                </a:solidFill>
              </a:rPr>
              <a:t>Engineer types, speaks or uploads project details such as dimensions, grade and element type.</a:t>
            </a:r>
            <a:endParaRPr lang="en-US" sz="1400" dirty="0"/>
          </a:p>
        </p:txBody>
      </p:sp>
      <p:sp>
        <p:nvSpPr>
          <p:cNvPr id="7" name="Shape 5"/>
          <p:cNvSpPr/>
          <p:nvPr/>
        </p:nvSpPr>
        <p:spPr>
          <a:xfrm>
            <a:off x="457200" y="1856232"/>
            <a:ext cx="502920" cy="502920"/>
          </a:xfrm>
          <a:prstGeom prst="ellipse">
            <a:avLst/>
          </a:prstGeom>
          <a:solidFill>
            <a:schemeClr val="accent1"/>
          </a:solidFill>
          <a:ln w="12700">
            <a:solidFill>
              <a:schemeClr val="bg1"/>
            </a:solidFill>
            <a:prstDash val="solid"/>
          </a:ln>
        </p:spPr>
        <p:txBody>
          <a:bodyPr/>
          <a:lstStyle/>
          <a:p>
            <a:endParaRPr/>
          </a:p>
        </p:txBody>
      </p:sp>
      <p:sp>
        <p:nvSpPr>
          <p:cNvPr id="8" name="Text 6"/>
          <p:cNvSpPr txBox="1"/>
          <p:nvPr/>
        </p:nvSpPr>
        <p:spPr>
          <a:xfrm>
            <a:off x="457200" y="1856232"/>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Text 7"/>
          <p:cNvSpPr txBox="1"/>
          <p:nvPr/>
        </p:nvSpPr>
        <p:spPr>
          <a:xfrm>
            <a:off x="1143000" y="1810512"/>
            <a:ext cx="2377440" cy="594360"/>
          </a:xfrm>
          <a:prstGeom prst="rect">
            <a:avLst/>
          </a:prstGeom>
          <a:noFill/>
          <a:ln/>
        </p:spPr>
        <p:txBody>
          <a:bodyPr wrap="square" lIns="0" tIns="0" rIns="0" bIns="0" rtlCol="0" anchor="ctr"/>
          <a:lstStyle/>
          <a:p>
            <a:pPr marL="0" indent="0">
              <a:buNone/>
            </a:pPr>
            <a:r>
              <a:rPr lang="en-US" sz="1600" b="1" dirty="0">
                <a:solidFill>
                  <a:schemeClr val="tx1"/>
                </a:solidFill>
              </a:rPr>
              <a:t>AI Interpretation</a:t>
            </a:r>
            <a:endParaRPr lang="en-US" sz="1600" dirty="0"/>
          </a:p>
        </p:txBody>
      </p:sp>
      <p:sp>
        <p:nvSpPr>
          <p:cNvPr id="10" name="Text 8"/>
          <p:cNvSpPr txBox="1"/>
          <p:nvPr/>
        </p:nvSpPr>
        <p:spPr>
          <a:xfrm>
            <a:off x="3566160" y="1810512"/>
            <a:ext cx="5120640" cy="594360"/>
          </a:xfrm>
          <a:prstGeom prst="rect">
            <a:avLst/>
          </a:prstGeom>
          <a:noFill/>
          <a:ln/>
        </p:spPr>
        <p:txBody>
          <a:bodyPr wrap="square" lIns="0" tIns="0" rIns="0" bIns="0" rtlCol="0" anchor="ctr"/>
          <a:lstStyle/>
          <a:p>
            <a:pPr marL="0" indent="0">
              <a:buNone/>
            </a:pPr>
            <a:r>
              <a:rPr lang="en-US" sz="1400" dirty="0">
                <a:solidFill>
                  <a:schemeClr val="tx2"/>
                </a:solidFill>
              </a:rPr>
              <a:t>AI extracts the values, checks for missing details and asks clarifying questions.</a:t>
            </a:r>
            <a:endParaRPr lang="en-US" sz="1400" dirty="0"/>
          </a:p>
        </p:txBody>
      </p:sp>
      <p:sp>
        <p:nvSpPr>
          <p:cNvPr id="11" name="Shape 9"/>
          <p:cNvSpPr/>
          <p:nvPr/>
        </p:nvSpPr>
        <p:spPr>
          <a:xfrm>
            <a:off x="457200" y="2569464"/>
            <a:ext cx="502920" cy="502920"/>
          </a:xfrm>
          <a:prstGeom prst="ellipse">
            <a:avLst/>
          </a:prstGeom>
          <a:solidFill>
            <a:schemeClr val="accent2"/>
          </a:solidFill>
          <a:ln w="12700">
            <a:solidFill>
              <a:schemeClr val="bg1"/>
            </a:solidFill>
            <a:prstDash val="solid"/>
          </a:ln>
        </p:spPr>
        <p:txBody>
          <a:bodyPr/>
          <a:lstStyle/>
          <a:p>
            <a:endParaRPr/>
          </a:p>
        </p:txBody>
      </p:sp>
      <p:sp>
        <p:nvSpPr>
          <p:cNvPr id="12" name="Text 10"/>
          <p:cNvSpPr txBox="1"/>
          <p:nvPr/>
        </p:nvSpPr>
        <p:spPr>
          <a:xfrm>
            <a:off x="457200" y="2569464"/>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Text 11"/>
          <p:cNvSpPr txBox="1"/>
          <p:nvPr/>
        </p:nvSpPr>
        <p:spPr>
          <a:xfrm>
            <a:off x="1143000" y="2523744"/>
            <a:ext cx="2377440" cy="594360"/>
          </a:xfrm>
          <a:prstGeom prst="rect">
            <a:avLst/>
          </a:prstGeom>
          <a:noFill/>
          <a:ln/>
        </p:spPr>
        <p:txBody>
          <a:bodyPr wrap="square" lIns="0" tIns="0" rIns="0" bIns="0" rtlCol="0" anchor="ctr"/>
          <a:lstStyle/>
          <a:p>
            <a:pPr marL="0" indent="0">
              <a:buNone/>
            </a:pPr>
            <a:r>
              <a:rPr lang="en-US" sz="1600" b="1" dirty="0">
                <a:solidFill>
                  <a:schemeClr val="tx1"/>
                </a:solidFill>
              </a:rPr>
              <a:t>Formula Engine</a:t>
            </a:r>
            <a:endParaRPr lang="en-US" sz="1600" dirty="0"/>
          </a:p>
        </p:txBody>
      </p:sp>
      <p:sp>
        <p:nvSpPr>
          <p:cNvPr id="14" name="Text 12"/>
          <p:cNvSpPr txBox="1"/>
          <p:nvPr/>
        </p:nvSpPr>
        <p:spPr>
          <a:xfrm>
            <a:off x="3566160" y="2523744"/>
            <a:ext cx="5120640" cy="594360"/>
          </a:xfrm>
          <a:prstGeom prst="rect">
            <a:avLst/>
          </a:prstGeom>
          <a:noFill/>
          <a:ln/>
        </p:spPr>
        <p:txBody>
          <a:bodyPr wrap="square" lIns="0" tIns="0" rIns="0" bIns="0" rtlCol="0" anchor="ctr"/>
          <a:lstStyle/>
          <a:p>
            <a:pPr marL="0" indent="0">
              <a:buNone/>
            </a:pPr>
            <a:r>
              <a:rPr lang="en-US" sz="1400" dirty="0">
                <a:solidFill>
                  <a:schemeClr val="tx2"/>
                </a:solidFill>
              </a:rPr>
              <a:t>Standard civil calculations convert dimensions into net material quantities.</a:t>
            </a:r>
            <a:endParaRPr lang="en-US" sz="1400" dirty="0"/>
          </a:p>
        </p:txBody>
      </p:sp>
      <p:sp>
        <p:nvSpPr>
          <p:cNvPr id="15" name="Shape 13"/>
          <p:cNvSpPr/>
          <p:nvPr/>
        </p:nvSpPr>
        <p:spPr>
          <a:xfrm>
            <a:off x="457200" y="3282696"/>
            <a:ext cx="502920" cy="502920"/>
          </a:xfrm>
          <a:prstGeom prst="ellipse">
            <a:avLst/>
          </a:prstGeom>
          <a:solidFill>
            <a:schemeClr val="accent1"/>
          </a:solidFill>
          <a:ln w="12700">
            <a:solidFill>
              <a:schemeClr val="bg1"/>
            </a:solidFill>
            <a:prstDash val="solid"/>
          </a:ln>
        </p:spPr>
        <p:txBody>
          <a:bodyPr/>
          <a:lstStyle/>
          <a:p>
            <a:endParaRPr/>
          </a:p>
        </p:txBody>
      </p:sp>
      <p:sp>
        <p:nvSpPr>
          <p:cNvPr id="16" name="Text 14"/>
          <p:cNvSpPr txBox="1"/>
          <p:nvPr/>
        </p:nvSpPr>
        <p:spPr>
          <a:xfrm>
            <a:off x="457200" y="3282696"/>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7" name="Text 15"/>
          <p:cNvSpPr txBox="1"/>
          <p:nvPr/>
        </p:nvSpPr>
        <p:spPr>
          <a:xfrm>
            <a:off x="1143000" y="3236976"/>
            <a:ext cx="2377440" cy="594360"/>
          </a:xfrm>
          <a:prstGeom prst="rect">
            <a:avLst/>
          </a:prstGeom>
          <a:noFill/>
          <a:ln/>
        </p:spPr>
        <p:txBody>
          <a:bodyPr wrap="square" lIns="0" tIns="0" rIns="0" bIns="0" rtlCol="0" anchor="ctr"/>
          <a:lstStyle/>
          <a:p>
            <a:pPr marL="0" indent="0">
              <a:buNone/>
            </a:pPr>
            <a:r>
              <a:rPr lang="en-US" sz="1600" b="1" dirty="0">
                <a:solidFill>
                  <a:schemeClr val="tx1"/>
                </a:solidFill>
              </a:rPr>
              <a:t>Waste Prediction</a:t>
            </a:r>
            <a:endParaRPr lang="en-US" sz="1600" dirty="0"/>
          </a:p>
        </p:txBody>
      </p:sp>
      <p:sp>
        <p:nvSpPr>
          <p:cNvPr id="18" name="Text 16"/>
          <p:cNvSpPr txBox="1"/>
          <p:nvPr/>
        </p:nvSpPr>
        <p:spPr>
          <a:xfrm>
            <a:off x="3566160" y="3236976"/>
            <a:ext cx="5120640" cy="594360"/>
          </a:xfrm>
          <a:prstGeom prst="rect">
            <a:avLst/>
          </a:prstGeom>
          <a:noFill/>
          <a:ln/>
        </p:spPr>
        <p:txBody>
          <a:bodyPr wrap="square" lIns="0" tIns="0" rIns="0" bIns="0" rtlCol="0" anchor="ctr"/>
          <a:lstStyle/>
          <a:p>
            <a:pPr marL="0" indent="0">
              <a:buNone/>
            </a:pPr>
            <a:r>
              <a:rPr lang="en-US" sz="1400" dirty="0">
                <a:solidFill>
                  <a:schemeClr val="tx2"/>
                </a:solidFill>
              </a:rPr>
              <a:t>A material-specific waste factor, learned from site data, is added to the net quantity.</a:t>
            </a:r>
            <a:endParaRPr lang="en-US" sz="1400" dirty="0"/>
          </a:p>
        </p:txBody>
      </p:sp>
      <p:sp>
        <p:nvSpPr>
          <p:cNvPr id="19" name="Shape 17"/>
          <p:cNvSpPr/>
          <p:nvPr/>
        </p:nvSpPr>
        <p:spPr>
          <a:xfrm>
            <a:off x="457200" y="3995928"/>
            <a:ext cx="502920" cy="502920"/>
          </a:xfrm>
          <a:prstGeom prst="ellipse">
            <a:avLst/>
          </a:prstGeom>
          <a:solidFill>
            <a:schemeClr val="accent1"/>
          </a:solidFill>
          <a:ln w="12700">
            <a:solidFill>
              <a:schemeClr val="bg1"/>
            </a:solidFill>
            <a:prstDash val="solid"/>
          </a:ln>
        </p:spPr>
        <p:txBody>
          <a:bodyPr/>
          <a:lstStyle/>
          <a:p>
            <a:endParaRPr/>
          </a:p>
        </p:txBody>
      </p:sp>
      <p:sp>
        <p:nvSpPr>
          <p:cNvPr id="20" name="Text 18"/>
          <p:cNvSpPr txBox="1"/>
          <p:nvPr/>
        </p:nvSpPr>
        <p:spPr>
          <a:xfrm>
            <a:off x="457200" y="3995928"/>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1" name="Text 19"/>
          <p:cNvSpPr txBox="1"/>
          <p:nvPr/>
        </p:nvSpPr>
        <p:spPr>
          <a:xfrm>
            <a:off x="1143000" y="3950208"/>
            <a:ext cx="2377440" cy="594360"/>
          </a:xfrm>
          <a:prstGeom prst="rect">
            <a:avLst/>
          </a:prstGeom>
          <a:noFill/>
          <a:ln/>
        </p:spPr>
        <p:txBody>
          <a:bodyPr wrap="square" lIns="0" tIns="0" rIns="0" bIns="0" rtlCol="0" anchor="ctr"/>
          <a:lstStyle/>
          <a:p>
            <a:pPr marL="0" indent="0">
              <a:buNone/>
            </a:pPr>
            <a:r>
              <a:rPr lang="en-US" sz="1600" b="1" dirty="0">
                <a:solidFill>
                  <a:schemeClr val="tx1"/>
                </a:solidFill>
              </a:rPr>
              <a:t>Order Plan and Feedback</a:t>
            </a:r>
            <a:endParaRPr lang="en-US" sz="1600" dirty="0"/>
          </a:p>
        </p:txBody>
      </p:sp>
      <p:sp>
        <p:nvSpPr>
          <p:cNvPr id="22" name="Text 20"/>
          <p:cNvSpPr txBox="1"/>
          <p:nvPr/>
        </p:nvSpPr>
        <p:spPr>
          <a:xfrm>
            <a:off x="3566160" y="3950208"/>
            <a:ext cx="5120640" cy="594360"/>
          </a:xfrm>
          <a:prstGeom prst="rect">
            <a:avLst/>
          </a:prstGeom>
          <a:noFill/>
          <a:ln/>
        </p:spPr>
        <p:txBody>
          <a:bodyPr wrap="square" lIns="0" tIns="0" rIns="0" bIns="0" rtlCol="0" anchor="ctr"/>
          <a:lstStyle/>
          <a:p>
            <a:pPr marL="0" indent="0">
              <a:buNone/>
            </a:pPr>
            <a:r>
              <a:rPr lang="en-US" sz="1400" dirty="0">
                <a:solidFill>
                  <a:schemeClr val="tx2"/>
                </a:solidFill>
              </a:rPr>
              <a:t>Staged order quantities are issued; actual usage is logged to improve the next estimate.</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8CA0"/>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rtlCol="0" anchor="ctr"/>
          <a:lstStyle/>
          <a:p>
            <a:pPr marL="0" indent="0">
              <a:buNone/>
            </a:pPr>
            <a:r>
              <a:rPr lang="en-US" sz="2800" b="1" dirty="0">
                <a:solidFill>
                  <a:schemeClr val="tx1"/>
                </a:solidFill>
              </a:rPr>
              <a:t>Mechanism: Calculation and Learning Logic</a:t>
            </a:r>
            <a:endParaRPr lang="en-US" sz="2800" dirty="0"/>
          </a:p>
        </p:txBody>
      </p:sp>
      <p:sp>
        <p:nvSpPr>
          <p:cNvPr id="3" name="Shape 1"/>
          <p:cNvSpPr/>
          <p:nvPr/>
        </p:nvSpPr>
        <p:spPr>
          <a:xfrm>
            <a:off x="457200" y="1097280"/>
            <a:ext cx="4023360" cy="1371600"/>
          </a:xfrm>
          <a:prstGeom prst="roundRect">
            <a:avLst>
              <a:gd name="adj" fmla="val 6667"/>
            </a:avLst>
          </a:prstGeom>
          <a:solidFill>
            <a:schemeClr val="bg2"/>
          </a:solidFill>
          <a:ln w="12700">
            <a:solidFill>
              <a:schemeClr val="bg2"/>
            </a:solidFill>
            <a:prstDash val="solid"/>
          </a:ln>
        </p:spPr>
        <p:txBody>
          <a:bodyPr/>
          <a:lstStyle/>
          <a:p>
            <a:endParaRPr/>
          </a:p>
        </p:txBody>
      </p:sp>
      <p:sp>
        <p:nvSpPr>
          <p:cNvPr id="4" name="Text 2"/>
          <p:cNvSpPr txBox="1"/>
          <p:nvPr/>
        </p:nvSpPr>
        <p:spPr>
          <a:xfrm>
            <a:off x="640080" y="1188720"/>
            <a:ext cx="3657600" cy="365760"/>
          </a:xfrm>
          <a:prstGeom prst="rect">
            <a:avLst/>
          </a:prstGeom>
          <a:noFill/>
          <a:ln/>
        </p:spPr>
        <p:txBody>
          <a:bodyPr wrap="square" lIns="0" tIns="0" rIns="0" bIns="0" rtlCol="0" anchor="ctr"/>
          <a:lstStyle/>
          <a:p>
            <a:pPr marL="0" indent="0">
              <a:buNone/>
            </a:pPr>
            <a:r>
              <a:rPr lang="en-US" sz="1600" b="1" dirty="0">
                <a:solidFill>
                  <a:schemeClr val="accent2"/>
                </a:solidFill>
                <a:latin typeface="Cambria" pitchFamily="34" charset="0"/>
                <a:ea typeface="Cambria" pitchFamily="34" charset="-122"/>
                <a:cs typeface="Cambria" pitchFamily="34" charset="-120"/>
              </a:rPr>
              <a:t>Net quantity</a:t>
            </a:r>
            <a:endParaRPr lang="en-US" sz="1600" dirty="0"/>
          </a:p>
        </p:txBody>
      </p:sp>
      <p:sp>
        <p:nvSpPr>
          <p:cNvPr id="5" name="Text 3"/>
          <p:cNvSpPr txBox="1"/>
          <p:nvPr/>
        </p:nvSpPr>
        <p:spPr>
          <a:xfrm>
            <a:off x="640080" y="1600200"/>
            <a:ext cx="3657600" cy="777240"/>
          </a:xfrm>
          <a:prstGeom prst="rect">
            <a:avLst/>
          </a:prstGeom>
          <a:noFill/>
          <a:ln/>
        </p:spPr>
        <p:txBody>
          <a:bodyPr wrap="square" lIns="0" tIns="0" rIns="0" bIns="0" rtlCol="0" anchor="t"/>
          <a:lstStyle/>
          <a:p>
            <a:pPr marL="0" indent="0">
              <a:buNone/>
            </a:pPr>
            <a:r>
              <a:rPr lang="en-US" sz="1400" dirty="0">
                <a:solidFill>
                  <a:schemeClr val="tx1"/>
                </a:solidFill>
              </a:rPr>
              <a:t>Computed from dimensions, for example Volume = Length x Breadth x Depth</a:t>
            </a:r>
            <a:endParaRPr lang="en-US" sz="1400" dirty="0"/>
          </a:p>
        </p:txBody>
      </p:sp>
      <p:sp>
        <p:nvSpPr>
          <p:cNvPr id="6" name="Shape 4"/>
          <p:cNvSpPr/>
          <p:nvPr/>
        </p:nvSpPr>
        <p:spPr>
          <a:xfrm>
            <a:off x="4663440" y="1097280"/>
            <a:ext cx="4023360" cy="1371600"/>
          </a:xfrm>
          <a:prstGeom prst="roundRect">
            <a:avLst>
              <a:gd name="adj" fmla="val 6667"/>
            </a:avLst>
          </a:prstGeom>
          <a:solidFill>
            <a:schemeClr val="bg2"/>
          </a:solidFill>
          <a:ln w="12700">
            <a:solidFill>
              <a:schemeClr val="bg2"/>
            </a:solidFill>
            <a:prstDash val="solid"/>
          </a:ln>
        </p:spPr>
        <p:txBody>
          <a:bodyPr/>
          <a:lstStyle/>
          <a:p>
            <a:endParaRPr/>
          </a:p>
        </p:txBody>
      </p:sp>
      <p:sp>
        <p:nvSpPr>
          <p:cNvPr id="7" name="Text 5"/>
          <p:cNvSpPr txBox="1"/>
          <p:nvPr/>
        </p:nvSpPr>
        <p:spPr>
          <a:xfrm>
            <a:off x="4846320" y="1188720"/>
            <a:ext cx="3657600" cy="365760"/>
          </a:xfrm>
          <a:prstGeom prst="rect">
            <a:avLst/>
          </a:prstGeom>
          <a:noFill/>
          <a:ln/>
        </p:spPr>
        <p:txBody>
          <a:bodyPr wrap="square" lIns="0" tIns="0" rIns="0" bIns="0" rtlCol="0" anchor="ctr"/>
          <a:lstStyle/>
          <a:p>
            <a:pPr marL="0" indent="0">
              <a:buNone/>
            </a:pPr>
            <a:r>
              <a:rPr lang="en-US" sz="1600" b="1" dirty="0">
                <a:solidFill>
                  <a:schemeClr val="accent2"/>
                </a:solidFill>
                <a:latin typeface="Cambria" pitchFamily="34" charset="0"/>
                <a:ea typeface="Cambria" pitchFamily="34" charset="-122"/>
                <a:cs typeface="Cambria" pitchFamily="34" charset="-120"/>
              </a:rPr>
              <a:t>Order quantity</a:t>
            </a:r>
            <a:endParaRPr lang="en-US" sz="1600" dirty="0"/>
          </a:p>
        </p:txBody>
      </p:sp>
      <p:sp>
        <p:nvSpPr>
          <p:cNvPr id="8" name="Text 6"/>
          <p:cNvSpPr txBox="1"/>
          <p:nvPr/>
        </p:nvSpPr>
        <p:spPr>
          <a:xfrm>
            <a:off x="4846320" y="1600200"/>
            <a:ext cx="3657600" cy="777240"/>
          </a:xfrm>
          <a:prstGeom prst="rect">
            <a:avLst/>
          </a:prstGeom>
          <a:noFill/>
          <a:ln/>
        </p:spPr>
        <p:txBody>
          <a:bodyPr wrap="square" lIns="0" tIns="0" rIns="0" bIns="0" rtlCol="0" anchor="t"/>
          <a:lstStyle/>
          <a:p>
            <a:pPr marL="0" indent="0">
              <a:buNone/>
            </a:pPr>
            <a:r>
              <a:rPr lang="en-US" sz="1400" dirty="0">
                <a:solidFill>
                  <a:schemeClr val="tx1"/>
                </a:solidFill>
              </a:rPr>
              <a:t>Net quantity x (1 + waste factor)</a:t>
            </a:r>
            <a:endParaRPr lang="en-US" sz="1400" dirty="0"/>
          </a:p>
        </p:txBody>
      </p:sp>
      <p:sp>
        <p:nvSpPr>
          <p:cNvPr id="9" name="Shape 7"/>
          <p:cNvSpPr/>
          <p:nvPr/>
        </p:nvSpPr>
        <p:spPr>
          <a:xfrm>
            <a:off x="457200" y="2651760"/>
            <a:ext cx="4023360" cy="1371600"/>
          </a:xfrm>
          <a:prstGeom prst="roundRect">
            <a:avLst>
              <a:gd name="adj" fmla="val 6667"/>
            </a:avLst>
          </a:prstGeom>
          <a:solidFill>
            <a:schemeClr val="bg2"/>
          </a:solidFill>
          <a:ln w="12700">
            <a:solidFill>
              <a:schemeClr val="bg2"/>
            </a:solidFill>
            <a:prstDash val="solid"/>
          </a:ln>
        </p:spPr>
        <p:txBody>
          <a:bodyPr/>
          <a:lstStyle/>
          <a:p>
            <a:endParaRPr/>
          </a:p>
        </p:txBody>
      </p:sp>
      <p:sp>
        <p:nvSpPr>
          <p:cNvPr id="10" name="Text 8"/>
          <p:cNvSpPr txBox="1"/>
          <p:nvPr/>
        </p:nvSpPr>
        <p:spPr>
          <a:xfrm>
            <a:off x="640080" y="2743200"/>
            <a:ext cx="3657600" cy="365760"/>
          </a:xfrm>
          <a:prstGeom prst="rect">
            <a:avLst/>
          </a:prstGeom>
          <a:noFill/>
          <a:ln/>
        </p:spPr>
        <p:txBody>
          <a:bodyPr wrap="square" lIns="0" tIns="0" rIns="0" bIns="0" rtlCol="0" anchor="ctr"/>
          <a:lstStyle/>
          <a:p>
            <a:pPr marL="0" indent="0">
              <a:buNone/>
            </a:pPr>
            <a:r>
              <a:rPr lang="en-US" sz="1600" b="1" dirty="0">
                <a:solidFill>
                  <a:schemeClr val="accent2"/>
                </a:solidFill>
                <a:latin typeface="Cambria" pitchFamily="34" charset="0"/>
                <a:ea typeface="Cambria" pitchFamily="34" charset="-122"/>
                <a:cs typeface="Cambria" pitchFamily="34" charset="-120"/>
              </a:rPr>
              <a:t>Waste level (%)</a:t>
            </a:r>
            <a:endParaRPr lang="en-US" sz="1600" dirty="0"/>
          </a:p>
        </p:txBody>
      </p:sp>
      <p:sp>
        <p:nvSpPr>
          <p:cNvPr id="11" name="Text 9"/>
          <p:cNvSpPr txBox="1"/>
          <p:nvPr/>
        </p:nvSpPr>
        <p:spPr>
          <a:xfrm>
            <a:off x="640080" y="3154680"/>
            <a:ext cx="3657600" cy="777240"/>
          </a:xfrm>
          <a:prstGeom prst="rect">
            <a:avLst/>
          </a:prstGeom>
          <a:noFill/>
          <a:ln/>
        </p:spPr>
        <p:txBody>
          <a:bodyPr wrap="square" lIns="0" tIns="0" rIns="0" bIns="0" rtlCol="0" anchor="t"/>
          <a:lstStyle/>
          <a:p>
            <a:pPr marL="0" indent="0">
              <a:buNone/>
            </a:pPr>
            <a:r>
              <a:rPr lang="en-US" sz="1400" dirty="0">
                <a:solidFill>
                  <a:schemeClr val="tx1"/>
                </a:solidFill>
              </a:rPr>
              <a:t>(Purchased - Installed) / Installed x 100, as used by Sapitri et al. (2026)</a:t>
            </a:r>
            <a:endParaRPr lang="en-US" sz="1400" dirty="0"/>
          </a:p>
        </p:txBody>
      </p:sp>
      <p:sp>
        <p:nvSpPr>
          <p:cNvPr id="12" name="Shape 10"/>
          <p:cNvSpPr/>
          <p:nvPr/>
        </p:nvSpPr>
        <p:spPr>
          <a:xfrm>
            <a:off x="4663440" y="2651760"/>
            <a:ext cx="4023360" cy="1371600"/>
          </a:xfrm>
          <a:prstGeom prst="roundRect">
            <a:avLst>
              <a:gd name="adj" fmla="val 6667"/>
            </a:avLst>
          </a:prstGeom>
          <a:solidFill>
            <a:schemeClr val="bg2"/>
          </a:solidFill>
          <a:ln w="12700">
            <a:solidFill>
              <a:schemeClr val="bg2"/>
            </a:solidFill>
            <a:prstDash val="solid"/>
          </a:ln>
        </p:spPr>
        <p:txBody>
          <a:bodyPr/>
          <a:lstStyle/>
          <a:p>
            <a:endParaRPr/>
          </a:p>
        </p:txBody>
      </p:sp>
      <p:sp>
        <p:nvSpPr>
          <p:cNvPr id="13" name="Text 11"/>
          <p:cNvSpPr txBox="1"/>
          <p:nvPr/>
        </p:nvSpPr>
        <p:spPr>
          <a:xfrm>
            <a:off x="4846320" y="2743200"/>
            <a:ext cx="3657600" cy="365760"/>
          </a:xfrm>
          <a:prstGeom prst="rect">
            <a:avLst/>
          </a:prstGeom>
          <a:noFill/>
          <a:ln/>
        </p:spPr>
        <p:txBody>
          <a:bodyPr wrap="square" lIns="0" tIns="0" rIns="0" bIns="0" rtlCol="0" anchor="ctr"/>
          <a:lstStyle/>
          <a:p>
            <a:pPr marL="0" indent="0">
              <a:buNone/>
            </a:pPr>
            <a:r>
              <a:rPr lang="en-US" sz="1600" b="1" dirty="0">
                <a:solidFill>
                  <a:schemeClr val="accent2"/>
                </a:solidFill>
                <a:latin typeface="Cambria" pitchFamily="34" charset="0"/>
                <a:ea typeface="Cambria" pitchFamily="34" charset="-122"/>
                <a:cs typeface="Cambria" pitchFamily="34" charset="-120"/>
              </a:rPr>
              <a:t>Surplus (%)</a:t>
            </a:r>
            <a:endParaRPr lang="en-US" sz="1600" dirty="0"/>
          </a:p>
        </p:txBody>
      </p:sp>
      <p:sp>
        <p:nvSpPr>
          <p:cNvPr id="14" name="Text 12"/>
          <p:cNvSpPr txBox="1"/>
          <p:nvPr/>
        </p:nvSpPr>
        <p:spPr>
          <a:xfrm>
            <a:off x="4846320" y="3154680"/>
            <a:ext cx="3657600" cy="777240"/>
          </a:xfrm>
          <a:prstGeom prst="rect">
            <a:avLst/>
          </a:prstGeom>
          <a:noFill/>
          <a:ln/>
        </p:spPr>
        <p:txBody>
          <a:bodyPr wrap="square" lIns="0" tIns="0" rIns="0" bIns="0" rtlCol="0" anchor="t"/>
          <a:lstStyle/>
          <a:p>
            <a:pPr marL="0" indent="0">
              <a:buNone/>
            </a:pPr>
            <a:r>
              <a:rPr lang="en-US" sz="1400" dirty="0">
                <a:solidFill>
                  <a:schemeClr val="tx1"/>
                </a:solidFill>
              </a:rPr>
              <a:t>(Ordered - Used) / Ordered x 100, logged from site records</a:t>
            </a:r>
            <a:endParaRPr lang="en-US" sz="1400" dirty="0"/>
          </a:p>
        </p:txBody>
      </p:sp>
      <p:sp>
        <p:nvSpPr>
          <p:cNvPr id="15" name="Shape 13"/>
          <p:cNvSpPr/>
          <p:nvPr/>
        </p:nvSpPr>
        <p:spPr>
          <a:xfrm>
            <a:off x="457200" y="4206240"/>
            <a:ext cx="8229600" cy="502920"/>
          </a:xfrm>
          <a:prstGeom prst="roundRect">
            <a:avLst>
              <a:gd name="adj" fmla="val 18182"/>
            </a:avLst>
          </a:prstGeom>
          <a:solidFill>
            <a:schemeClr val="tx1"/>
          </a:solidFill>
          <a:ln w="12700">
            <a:solidFill>
              <a:schemeClr val="tx1"/>
            </a:solidFill>
            <a:prstDash val="solid"/>
          </a:ln>
        </p:spPr>
        <p:txBody>
          <a:bodyPr/>
          <a:lstStyle/>
          <a:p>
            <a:endParaRPr/>
          </a:p>
        </p:txBody>
      </p:sp>
      <p:sp>
        <p:nvSpPr>
          <p:cNvPr id="16" name="Text 14"/>
          <p:cNvSpPr txBox="1"/>
          <p:nvPr/>
        </p:nvSpPr>
        <p:spPr>
          <a:xfrm>
            <a:off x="640080" y="4206240"/>
            <a:ext cx="7863840" cy="502920"/>
          </a:xfrm>
          <a:prstGeom prst="rect">
            <a:avLst/>
          </a:prstGeom>
          <a:noFill/>
          <a:ln/>
        </p:spPr>
        <p:txBody>
          <a:bodyPr wrap="square" lIns="0" tIns="0" rIns="0" bIns="0" rtlCol="0" anchor="ctr"/>
          <a:lstStyle/>
          <a:p>
            <a:pPr marL="0" indent="0">
              <a:buNone/>
            </a:pPr>
            <a:r>
              <a:rPr lang="en-US" sz="1300" dirty="0">
                <a:solidFill>
                  <a:schemeClr val="bg1"/>
                </a:solidFill>
              </a:rPr>
              <a:t>The AI interprets input; formulas do the math; the waste factor starts from published benchmarks and is updated from each site's logs.</a:t>
            </a:r>
            <a:endParaRPr lang="en-US" sz="13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8CA0"/>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rtlCol="0" anchor="ctr"/>
          <a:lstStyle/>
          <a:p>
            <a:pPr marL="0" indent="0">
              <a:buNone/>
            </a:pPr>
            <a:r>
              <a:rPr lang="en-US" sz="2800" b="1" dirty="0">
                <a:solidFill>
                  <a:schemeClr val="tx1"/>
                </a:solidFill>
              </a:rPr>
              <a:t>Expected Impact and Roadmap</a:t>
            </a:r>
            <a:endParaRPr lang="en-US" sz="2800" dirty="0"/>
          </a:p>
        </p:txBody>
      </p:sp>
      <p:sp>
        <p:nvSpPr>
          <p:cNvPr id="3" name="Shape 1"/>
          <p:cNvSpPr/>
          <p:nvPr/>
        </p:nvSpPr>
        <p:spPr>
          <a:xfrm>
            <a:off x="457200" y="1097280"/>
            <a:ext cx="4023360" cy="3520440"/>
          </a:xfrm>
          <a:prstGeom prst="roundRect">
            <a:avLst>
              <a:gd name="adj" fmla="val 2597"/>
            </a:avLst>
          </a:prstGeom>
          <a:solidFill>
            <a:schemeClr val="bg2"/>
          </a:solidFill>
          <a:ln w="12700">
            <a:solidFill>
              <a:schemeClr val="bg2"/>
            </a:solidFill>
            <a:prstDash val="solid"/>
          </a:ln>
        </p:spPr>
        <p:txBody>
          <a:bodyPr/>
          <a:lstStyle/>
          <a:p>
            <a:endParaRPr/>
          </a:p>
        </p:txBody>
      </p:sp>
      <p:sp>
        <p:nvSpPr>
          <p:cNvPr id="4" name="Text 2"/>
          <p:cNvSpPr txBox="1"/>
          <p:nvPr/>
        </p:nvSpPr>
        <p:spPr>
          <a:xfrm>
            <a:off x="640080" y="1188720"/>
            <a:ext cx="3657600" cy="365760"/>
          </a:xfrm>
          <a:prstGeom prst="rect">
            <a:avLst/>
          </a:prstGeom>
          <a:noFill/>
          <a:ln/>
        </p:spPr>
        <p:txBody>
          <a:bodyPr wrap="square" lIns="0" tIns="0" rIns="0" bIns="0" rtlCol="0" anchor="ctr"/>
          <a:lstStyle/>
          <a:p>
            <a:pPr marL="0" indent="0">
              <a:buNone/>
            </a:pPr>
            <a:r>
              <a:rPr lang="en-US" sz="2000" b="1" dirty="0">
                <a:solidFill>
                  <a:schemeClr val="accent1"/>
                </a:solidFill>
                <a:latin typeface="Cambria" pitchFamily="34" charset="0"/>
                <a:ea typeface="Cambria" pitchFamily="34" charset="-122"/>
                <a:cs typeface="Cambria" pitchFamily="34" charset="-120"/>
              </a:rPr>
              <a:t>Expected Impact</a:t>
            </a:r>
            <a:endParaRPr lang="en-US" sz="2000" dirty="0"/>
          </a:p>
        </p:txBody>
      </p:sp>
      <p:sp>
        <p:nvSpPr>
          <p:cNvPr id="5" name="Text 3"/>
          <p:cNvSpPr txBox="1"/>
          <p:nvPr/>
        </p:nvSpPr>
        <p:spPr>
          <a:xfrm>
            <a:off x="640080" y="1645920"/>
            <a:ext cx="3657600" cy="28346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Lower material cost through accurate ordering.</a:t>
            </a:r>
            <a:endParaRPr lang="en-US" sz="1400" dirty="0"/>
          </a:p>
          <a:p>
            <a:pPr marL="342900" indent="-342900">
              <a:spcAft>
                <a:spcPts val="600"/>
              </a:spcAft>
              <a:buSzPct val="100000"/>
              <a:buChar char="•"/>
            </a:pPr>
            <a:r>
              <a:rPr lang="en-US" sz="1400" dirty="0">
                <a:solidFill>
                  <a:schemeClr val="tx1"/>
                </a:solidFill>
              </a:rPr>
              <a:t>Fewer shortage delays and less idle time.</a:t>
            </a:r>
            <a:endParaRPr lang="en-US" sz="1400" dirty="0"/>
          </a:p>
          <a:p>
            <a:pPr marL="342900" indent="-342900">
              <a:spcAft>
                <a:spcPts val="600"/>
              </a:spcAft>
              <a:buSzPct val="100000"/>
              <a:buChar char="•"/>
            </a:pPr>
            <a:r>
              <a:rPr lang="en-US" sz="1400" dirty="0">
                <a:solidFill>
                  <a:schemeClr val="tx1"/>
                </a:solidFill>
              </a:rPr>
              <a:t>Less storage burden and disposal.</a:t>
            </a:r>
            <a:endParaRPr lang="en-US" sz="1400" dirty="0"/>
          </a:p>
          <a:p>
            <a:pPr marL="342900" indent="-342900">
              <a:spcAft>
                <a:spcPts val="600"/>
              </a:spcAft>
              <a:buSzPct val="100000"/>
              <a:buChar char="•"/>
            </a:pPr>
            <a:r>
              <a:rPr lang="en-US" sz="1400" dirty="0">
                <a:solidFill>
                  <a:schemeClr val="tx1"/>
                </a:solidFill>
              </a:rPr>
              <a:t>Illustrative example: Rs 10 lakh of material with 5% less waste saves Rs 50,000 per project. Real figures will follow our field study.</a:t>
            </a:r>
            <a:endParaRPr lang="en-US" sz="1400" dirty="0"/>
          </a:p>
        </p:txBody>
      </p:sp>
      <p:sp>
        <p:nvSpPr>
          <p:cNvPr id="6" name="Shape 4"/>
          <p:cNvSpPr/>
          <p:nvPr/>
        </p:nvSpPr>
        <p:spPr>
          <a:xfrm>
            <a:off x="4663440" y="1097280"/>
            <a:ext cx="4023360" cy="3520440"/>
          </a:xfrm>
          <a:prstGeom prst="roundRect">
            <a:avLst>
              <a:gd name="adj" fmla="val 2597"/>
            </a:avLst>
          </a:prstGeom>
          <a:solidFill>
            <a:schemeClr val="bg2"/>
          </a:solidFill>
          <a:ln w="12700">
            <a:solidFill>
              <a:schemeClr val="bg2"/>
            </a:solidFill>
            <a:prstDash val="solid"/>
          </a:ln>
        </p:spPr>
        <p:txBody>
          <a:bodyPr/>
          <a:lstStyle/>
          <a:p>
            <a:endParaRPr/>
          </a:p>
        </p:txBody>
      </p:sp>
      <p:sp>
        <p:nvSpPr>
          <p:cNvPr id="7" name="Text 5"/>
          <p:cNvSpPr txBox="1"/>
          <p:nvPr/>
        </p:nvSpPr>
        <p:spPr>
          <a:xfrm>
            <a:off x="4846320" y="1188720"/>
            <a:ext cx="3657600" cy="365760"/>
          </a:xfrm>
          <a:prstGeom prst="rect">
            <a:avLst/>
          </a:prstGeom>
          <a:noFill/>
          <a:ln/>
        </p:spPr>
        <p:txBody>
          <a:bodyPr wrap="square" lIns="0" tIns="0" rIns="0" bIns="0" rtlCol="0" anchor="ctr"/>
          <a:lstStyle/>
          <a:p>
            <a:pPr marL="0" indent="0">
              <a:buNone/>
            </a:pPr>
            <a:r>
              <a:rPr lang="en-US" sz="2000" b="1" dirty="0">
                <a:solidFill>
                  <a:schemeClr val="accent2"/>
                </a:solidFill>
                <a:latin typeface="Cambria" pitchFamily="34" charset="0"/>
                <a:ea typeface="Cambria" pitchFamily="34" charset="-122"/>
                <a:cs typeface="Cambria" pitchFamily="34" charset="-120"/>
              </a:rPr>
              <a:t>Roadmap</a:t>
            </a:r>
            <a:endParaRPr lang="en-US" sz="2000" dirty="0"/>
          </a:p>
        </p:txBody>
      </p:sp>
      <p:sp>
        <p:nvSpPr>
          <p:cNvPr id="8" name="Text 6"/>
          <p:cNvSpPr txBox="1"/>
          <p:nvPr/>
        </p:nvSpPr>
        <p:spPr>
          <a:xfrm>
            <a:off x="4846320" y="1645920"/>
            <a:ext cx="3657600" cy="28346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Phase 1: Wall, slab and column quantity calculator (MVP).</a:t>
            </a:r>
            <a:endParaRPr lang="en-US" sz="1400" dirty="0"/>
          </a:p>
          <a:p>
            <a:pPr marL="342900" indent="-342900">
              <a:spcAft>
                <a:spcPts val="600"/>
              </a:spcAft>
              <a:buSzPct val="100000"/>
              <a:buChar char="•"/>
            </a:pPr>
            <a:r>
              <a:rPr lang="en-US" sz="1400" dirty="0">
                <a:solidFill>
                  <a:schemeClr val="tx1"/>
                </a:solidFill>
              </a:rPr>
              <a:t>Phase 2: Usage logging and leftover tracking.</a:t>
            </a:r>
            <a:endParaRPr lang="en-US" sz="1400" dirty="0"/>
          </a:p>
          <a:p>
            <a:pPr marL="342900" indent="-342900">
              <a:spcAft>
                <a:spcPts val="600"/>
              </a:spcAft>
              <a:buSzPct val="100000"/>
              <a:buChar char="•"/>
            </a:pPr>
            <a:r>
              <a:rPr lang="en-US" sz="1400" dirty="0">
                <a:solidFill>
                  <a:schemeClr val="tx1"/>
                </a:solidFill>
              </a:rPr>
              <a:t>Phase 3: Interviews at more sites to calibrate waste factors.</a:t>
            </a:r>
            <a:endParaRPr lang="en-US" sz="1400" dirty="0"/>
          </a:p>
          <a:p>
            <a:pPr marL="342900" indent="-342900">
              <a:spcAft>
                <a:spcPts val="600"/>
              </a:spcAft>
              <a:buSzPct val="100000"/>
              <a:buChar char="•"/>
            </a:pPr>
            <a:r>
              <a:rPr lang="en-US" sz="1400" dirty="0">
                <a:solidFill>
                  <a:schemeClr val="tx1"/>
                </a:solidFill>
              </a:rPr>
              <a:t>Phase 4: Drawing and BIM input, supplier ordering, leftover exchange between sites.</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8CA0"/>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8046720" cy="822960"/>
          </a:xfrm>
          <a:prstGeom prst="rect">
            <a:avLst/>
          </a:prstGeom>
          <a:noFill/>
          <a:ln/>
        </p:spPr>
        <p:txBody>
          <a:bodyPr wrap="square" lIns="91440" tIns="45720" rIns="91440" bIns="45720" rtlCol="0" anchor="ctr"/>
          <a:lstStyle/>
          <a:p>
            <a:pPr marL="0" indent="0">
              <a:buNone/>
            </a:pPr>
            <a:r>
              <a:rPr lang="en-US" sz="3400" b="1"/>
              <a:t>Conclusion </a:t>
            </a:r>
            <a:endParaRPr lang="en-US" sz="3400"/>
          </a:p>
        </p:txBody>
      </p:sp>
      <p:sp>
        <p:nvSpPr>
          <p:cNvPr id="3" name="Text 1"/>
          <p:cNvSpPr txBox="1"/>
          <p:nvPr/>
        </p:nvSpPr>
        <p:spPr>
          <a:xfrm>
            <a:off x="548640" y="1371600"/>
            <a:ext cx="4206240" cy="548640"/>
          </a:xfrm>
          <a:prstGeom prst="rect">
            <a:avLst/>
          </a:prstGeom>
          <a:noFill/>
          <a:ln/>
        </p:spPr>
        <p:txBody>
          <a:bodyPr wrap="square" lIns="0" tIns="0" rIns="0" bIns="0" rtlCol="0" anchor="ctr"/>
          <a:lstStyle/>
          <a:p>
            <a:pPr marL="0" indent="0">
              <a:buNone/>
            </a:pPr>
            <a:r>
              <a:rPr lang="en-US" sz="2600" b="1" dirty="0">
                <a:solidFill>
                  <a:schemeClr val="accent4"/>
                </a:solidFill>
                <a:latin typeface="Cambria" pitchFamily="34" charset="0"/>
                <a:ea typeface="Cambria" pitchFamily="34" charset="-122"/>
                <a:cs typeface="Cambria" pitchFamily="34" charset="-120"/>
              </a:rPr>
              <a:t>Order only what you need.</a:t>
            </a:r>
            <a:endParaRPr lang="en-US" sz="2600" dirty="0"/>
          </a:p>
        </p:txBody>
      </p:sp>
      <p:sp>
        <p:nvSpPr>
          <p:cNvPr id="4" name="Text 2"/>
          <p:cNvSpPr txBox="1"/>
          <p:nvPr/>
        </p:nvSpPr>
        <p:spPr>
          <a:xfrm>
            <a:off x="548640" y="2011680"/>
            <a:ext cx="4206240" cy="2103120"/>
          </a:xfrm>
          <a:prstGeom prst="rect">
            <a:avLst/>
          </a:prstGeom>
          <a:noFill/>
          <a:ln/>
        </p:spPr>
        <p:txBody>
          <a:bodyPr wrap="square" lIns="0" tIns="0" rIns="0" bIns="0" rtlCol="0" anchor="t"/>
          <a:lstStyle/>
          <a:p>
            <a:pPr marL="0" indent="0">
              <a:buNone/>
            </a:pPr>
            <a:r>
              <a:rPr lang="en-US" sz="1600" dirty="0">
                <a:solidFill>
                  <a:schemeClr val="bg1"/>
                </a:solidFill>
              </a:rPr>
              <a:t>Sustainable AI combines evidence from six studies and a field conversation to estimate accurately, track usage and reuse leftovers, reducing cost and construction waste.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rtlCol="0" anchor="ctr"/>
          <a:lstStyle/>
          <a:p>
            <a:pPr marL="0" indent="0">
              <a:buNone/>
            </a:pPr>
            <a:r>
              <a:rPr lang="en-US" sz="2800" b="1" dirty="0">
                <a:solidFill>
                  <a:schemeClr val="tx1"/>
                </a:solidFill>
              </a:rPr>
              <a:t>Bibliography</a:t>
            </a:r>
            <a:endParaRPr lang="en-US" sz="2800" dirty="0"/>
          </a:p>
        </p:txBody>
      </p:sp>
      <p:sp>
        <p:nvSpPr>
          <p:cNvPr id="3" name="Text 1"/>
          <p:cNvSpPr txBox="1"/>
          <p:nvPr/>
        </p:nvSpPr>
        <p:spPr>
          <a:xfrm>
            <a:off x="457200" y="1097280"/>
            <a:ext cx="8229600" cy="3611880"/>
          </a:xfrm>
          <a:prstGeom prst="rect">
            <a:avLst/>
          </a:prstGeom>
          <a:noFill/>
          <a:ln/>
        </p:spPr>
        <p:txBody>
          <a:bodyPr wrap="square" lIns="0" tIns="0" rIns="0" bIns="0" rtlCol="0" anchor="t"/>
          <a:lstStyle/>
          <a:p>
            <a:pPr marL="0" indent="0">
              <a:buNone/>
            </a:pPr>
            <a:r>
              <a:rPr lang="en-US" sz="1200" dirty="0">
                <a:solidFill>
                  <a:srgbClr val="14233C"/>
                </a:solidFill>
              </a:rPr>
              <a:t>Adewuyi, T.O., Idoro, G.I., &amp; Ikpo, I.J. (2014). Empirical evaluation of construction material waste generated on sites in Nigeria. </a:t>
            </a:r>
            <a:r>
              <a:rPr lang="en-US" sz="1200" i="1" dirty="0">
                <a:solidFill>
                  <a:srgbClr val="14233C"/>
                </a:solidFill>
              </a:rPr>
              <a:t>Civil Engineering Dimension</a:t>
            </a:r>
            <a:r>
              <a:rPr lang="en-US" sz="1200" dirty="0">
                <a:solidFill>
                  <a:srgbClr val="14233C"/>
                </a:solidFill>
              </a:rPr>
              <a:t>16(2), 96-103.</a:t>
            </a:r>
            <a:endParaRPr lang="en-US" sz="1200" dirty="0"/>
          </a:p>
          <a:p>
            <a:pPr marL="0" indent="0">
              <a:buNone/>
            </a:pPr>
            <a:r>
              <a:rPr lang="en-US" sz="500" dirty="0">
                <a:solidFill>
                  <a:srgbClr val="000000"/>
                </a:solidFill>
              </a:rPr>
              <a:t> </a:t>
            </a:r>
            <a:endParaRPr lang="en-US" sz="1200" dirty="0"/>
          </a:p>
          <a:p>
            <a:pPr marL="0" indent="0">
              <a:buNone/>
            </a:pPr>
            <a:r>
              <a:rPr lang="en-US" sz="1200" dirty="0">
                <a:solidFill>
                  <a:srgbClr val="14233C"/>
                </a:solidFill>
              </a:rPr>
              <a:t>Asmi, A., Munandar, T.V., &amp; Djamaris, A. (2024). Analysis of construction material waste in a four-storey office shop building project. </a:t>
            </a:r>
            <a:r>
              <a:rPr lang="en-US" sz="1200" i="1" dirty="0">
                <a:solidFill>
                  <a:srgbClr val="14233C"/>
                </a:solidFill>
              </a:rPr>
              <a:t>International Journal of Sustainable Construction Engineering and Technology</a:t>
            </a:r>
            <a:r>
              <a:rPr lang="en-US" sz="1200" dirty="0">
                <a:solidFill>
                  <a:srgbClr val="14233C"/>
                </a:solidFill>
              </a:rPr>
              <a:t>, 15(4), 38-52.</a:t>
            </a:r>
            <a:endParaRPr lang="en-US" sz="1200" dirty="0"/>
          </a:p>
          <a:p>
            <a:pPr marL="0" indent="0">
              <a:buNone/>
            </a:pPr>
            <a:r>
              <a:rPr lang="en-US" sz="500" dirty="0">
                <a:solidFill>
                  <a:srgbClr val="000000"/>
                </a:solidFill>
              </a:rPr>
              <a:t> </a:t>
            </a:r>
            <a:endParaRPr lang="en-US" sz="1200" dirty="0"/>
          </a:p>
          <a:p>
            <a:pPr marL="0" indent="0">
              <a:buNone/>
            </a:pPr>
            <a:r>
              <a:rPr lang="en-US" sz="1200" dirty="0">
                <a:solidFill>
                  <a:srgbClr val="14233C"/>
                </a:solidFill>
              </a:rPr>
              <a:t>Odusami, K.T., Oladiran, O.J., &amp; Ibrahim, S.A. (2012). Evaluation of materials wastage and control in some selected building sites in Nigeria. University of Lagos Institutional Repository (ir.unilag.edu.ng). </a:t>
            </a:r>
            <a:endParaRPr lang="en-US" sz="1200" dirty="0"/>
          </a:p>
          <a:p>
            <a:pPr marL="0" indent="0">
              <a:buNone/>
            </a:pPr>
            <a:r>
              <a:rPr lang="en-US" sz="500" dirty="0">
                <a:solidFill>
                  <a:srgbClr val="000000"/>
                </a:solidFill>
              </a:rPr>
              <a:t> </a:t>
            </a:r>
            <a:endParaRPr lang="en-US" sz="1200" dirty="0"/>
          </a:p>
          <a:p>
            <a:pPr marL="0" indent="0">
              <a:buNone/>
            </a:pPr>
            <a:r>
              <a:rPr lang="en-US" sz="1200" dirty="0">
                <a:solidFill>
                  <a:srgbClr val="14233C"/>
                </a:solidFill>
              </a:rPr>
              <a:t>Oladiran, O.J. (2018). Comparison of the wastage of selected materials on building sites with estimators' allowances. </a:t>
            </a:r>
            <a:r>
              <a:rPr lang="en-US" sz="1200" i="1" dirty="0">
                <a:solidFill>
                  <a:srgbClr val="14233C"/>
                </a:solidFill>
              </a:rPr>
              <a:t>Journal of Sustainable Technology</a:t>
            </a:r>
            <a:r>
              <a:rPr lang="en-US" sz="1200" dirty="0">
                <a:solidFill>
                  <a:srgbClr val="14233C"/>
                </a:solidFill>
              </a:rPr>
              <a:t>, 9(2), 88-98.</a:t>
            </a:r>
            <a:endParaRPr lang="en-US" sz="1200" dirty="0"/>
          </a:p>
          <a:p>
            <a:pPr marL="0" indent="0">
              <a:buNone/>
            </a:pPr>
            <a:r>
              <a:rPr lang="en-US" sz="500" dirty="0">
                <a:solidFill>
                  <a:srgbClr val="000000"/>
                </a:solidFill>
              </a:rPr>
              <a:t> </a:t>
            </a:r>
            <a:endParaRPr lang="en-US" sz="1200" dirty="0"/>
          </a:p>
          <a:p>
            <a:pPr marL="0" indent="0">
              <a:buNone/>
            </a:pPr>
            <a:r>
              <a:rPr lang="en-US" sz="1200" dirty="0">
                <a:solidFill>
                  <a:srgbClr val="14233C"/>
                </a:solidFill>
              </a:rPr>
              <a:t>Pradana, A., &amp; Putra, I.N.D.P. (2024). Waste level and cost analysis of steel reinforcement work in construction projects. </a:t>
            </a:r>
            <a:r>
              <a:rPr lang="en-US" sz="1200" i="1" dirty="0">
                <a:solidFill>
                  <a:srgbClr val="14233C"/>
                </a:solidFill>
              </a:rPr>
              <a:t>Jurnal Ilmu Teknik</a:t>
            </a:r>
            <a:r>
              <a:rPr lang="en-US" sz="1200" dirty="0">
                <a:solidFill>
                  <a:srgbClr val="14233C"/>
                </a:solidFill>
              </a:rPr>
              <a:t>, 1(4), 156-162.</a:t>
            </a:r>
            <a:endParaRPr lang="en-US" sz="1200" dirty="0"/>
          </a:p>
          <a:p>
            <a:pPr marL="0" indent="0">
              <a:buNone/>
            </a:pPr>
            <a:r>
              <a:rPr lang="en-US" sz="500" dirty="0">
                <a:solidFill>
                  <a:srgbClr val="000000"/>
                </a:solidFill>
              </a:rPr>
              <a:t> </a:t>
            </a:r>
            <a:endParaRPr lang="en-US" sz="1200" dirty="0"/>
          </a:p>
          <a:p>
            <a:pPr marL="0" indent="0">
              <a:buNone/>
            </a:pPr>
            <a:r>
              <a:rPr lang="en-US" sz="1200" dirty="0">
                <a:solidFill>
                  <a:srgbClr val="14233C"/>
                </a:solidFill>
              </a:rPr>
              <a:t>Sapitri, Oktaviani, A., &amp; Jusoh, M.N.H. (2026). Material waste analysis using lean construction in the project of Gedung Hunian Lembaga Pemasyarakatan Narkotika. </a:t>
            </a:r>
            <a:r>
              <a:rPr lang="en-US" sz="1200" i="1" dirty="0">
                <a:solidFill>
                  <a:srgbClr val="14233C"/>
                </a:solidFill>
              </a:rPr>
              <a:t>Evergreen</a:t>
            </a:r>
            <a:r>
              <a:rPr lang="en-US" sz="1200" dirty="0">
                <a:solidFill>
                  <a:srgbClr val="14233C"/>
                </a:solidFill>
              </a:rPr>
              <a:t>, 13(02), 851-862. https://doi.org/10.5109/7432660</a:t>
            </a:r>
            <a:endParaRPr lang="en-US" sz="1200" dirty="0"/>
          </a:p>
          <a:p>
            <a:pPr marL="0" indent="0">
              <a:buNone/>
            </a:pPr>
            <a:r>
              <a:rPr lang="en-US" sz="500" dirty="0">
                <a:solidFill>
                  <a:srgbClr val="000000"/>
                </a:solidFill>
              </a:rPr>
              <a:t> </a:t>
            </a:r>
            <a:endParaRPr lang="en-US" sz="1200" dirty="0"/>
          </a:p>
          <a:p>
            <a:pPr marL="0" indent="0">
              <a:buNone/>
            </a:pPr>
            <a:r>
              <a:rPr lang="en-US" sz="1200" dirty="0">
                <a:solidFill>
                  <a:srgbClr val="14233C"/>
                </a:solidFill>
              </a:rPr>
              <a:t>Sulistio, H., &amp; Waty, M. (2024). Impact of change orders on waste material of road construction project. </a:t>
            </a:r>
            <a:r>
              <a:rPr lang="en-US" sz="1200" i="1" dirty="0">
                <a:solidFill>
                  <a:srgbClr val="14233C"/>
                </a:solidFill>
              </a:rPr>
              <a:t>Planning Malaysia</a:t>
            </a:r>
            <a:r>
              <a:rPr lang="en-US" sz="1200" dirty="0">
                <a:solidFill>
                  <a:srgbClr val="14233C"/>
                </a:solidFill>
              </a:rPr>
              <a:t>, 22(2), 533-549.</a:t>
            </a:r>
            <a:endParaRPr lang="en-US" sz="1200" dirty="0"/>
          </a:p>
          <a:p>
            <a:pPr marL="0" indent="0">
              <a:buNone/>
            </a:pPr>
            <a:r>
              <a:rPr lang="en-US" sz="500" dirty="0">
                <a:solidFill>
                  <a:srgbClr val="000000"/>
                </a:solidFill>
              </a:rPr>
              <a:t> </a:t>
            </a:r>
            <a:endParaRPr lang="en-US" sz="1200" dirty="0"/>
          </a:p>
          <a:p>
            <a:pPr marL="0" indent="0">
              <a:buNone/>
            </a:pPr>
            <a:r>
              <a:rPr lang="en-US" sz="1200" dirty="0">
                <a:solidFill>
                  <a:srgbClr val="14233C"/>
                </a:solidFill>
              </a:rPr>
              <a:t>Primary data: interaction with a mason at the campus construction site near Kashyapa Bhavanam, Amrita Vishwa Vidyapeetham, Coimbatore.</a:t>
            </a:r>
            <a:endParaRPr lang="en-US" sz="1200" dirty="0"/>
          </a:p>
          <a:p>
            <a:pPr marL="0" indent="0">
              <a:buNone/>
            </a:pPr>
            <a:r>
              <a:rPr lang="en-US" sz="500" dirty="0">
                <a:solidFill>
                  <a:srgbClr val="000000"/>
                </a:solidFill>
              </a:rPr>
              <a:t> </a:t>
            </a:r>
            <a:endParaRPr lang="en-US" sz="12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8CA0"/>
                </a:solidFill>
              </a:defRPr>
            </a:lvl1pPr>
          </a:lstStyle>
          <a:p>
            <a:pPr algn="l"/>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Sustainable AI">
  <a:themeElements>
    <a:clrScheme name="Sustainable AI">
      <a:dk1>
        <a:srgbClr val="14233C"/>
      </a:dk1>
      <a:lt1>
        <a:srgbClr val="FFFFFF"/>
      </a:lt1>
      <a:dk2>
        <a:srgbClr val="1F3A5F"/>
      </a:dk2>
      <a:lt2>
        <a:srgbClr val="EEF2F6"/>
      </a:lt2>
      <a:accent1>
        <a:srgbClr val="C8961E"/>
      </a:accent1>
      <a:accent2>
        <a:srgbClr val="2A7F8E"/>
      </a:accent2>
      <a:accent3>
        <a:srgbClr val="5C7C99"/>
      </a:accent3>
      <a:accent4>
        <a:srgbClr val="E9C46A"/>
      </a:accent4>
      <a:accent5>
        <a:srgbClr val="A23B3B"/>
      </a:accent5>
      <a:accent6>
        <a:srgbClr val="7A8CA0"/>
      </a:accent6>
      <a:hlink>
        <a:srgbClr val="2A7F8E"/>
      </a:hlink>
      <a:folHlink>
        <a:srgbClr val="5C7C99"/>
      </a:folHlink>
    </a:clrScheme>
    <a:fontScheme name="Sustainable 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Sustainable AI</vt:lpstr>
      <vt:lpstr>Sustainable AI </vt:lpstr>
      <vt:lpstr>Problem Statement and Objectives</vt:lpstr>
      <vt:lpstr>Case Study 1: Estimator Allowances in Lagos</vt:lpstr>
      <vt:lpstr>Case Study 2: Waste on Public Projects</vt:lpstr>
      <vt:lpstr>Case Study 3: Waste Control on Building Sites</vt:lpstr>
      <vt:lpstr>Case Study 4: Four-Storey Office Shop Building</vt:lpstr>
      <vt:lpstr>Case Study 5: Change Orders in Road Projects</vt:lpstr>
      <vt:lpstr>Case Study 6: Lean Construction on a Residential Building</vt:lpstr>
      <vt:lpstr>Case Study Synthesis</vt:lpstr>
      <vt:lpstr>Field Conversation with a Mason</vt:lpstr>
      <vt:lpstr>Field Findings and Design Response</vt:lpstr>
      <vt:lpstr>Mechanism: How Sustainable AI Works</vt:lpstr>
      <vt:lpstr>Mechanism: Calculation and Learning Logic</vt:lpstr>
      <vt:lpstr>Expected Impact and Roadmap</vt:lpstr>
      <vt:lpstr>Conclusion </vt:lpstr>
      <vt:lpstr>Bibliography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Sustainable AI - Ideathon</dc:title>
  <dc:subject>PptxGenJS Presentation</dc:subject>
  <dc:creator>PptxGenJS</dc:creator>
  <cp:lastModifiedBy>ponnisathiyamoorthy22@gmail.com</cp:lastModifiedBy>
  <cp:revision>15</cp:revision>
  <dcterms:created xsi:type="dcterms:W3CDTF">2026-10-10T09:56:26Z</dcterms:created>
  <dcterms:modified xsi:type="dcterms:W3CDTF">2026-10-10T10:22:10Z</dcterms:modified>
</cp:coreProperties>
</file>